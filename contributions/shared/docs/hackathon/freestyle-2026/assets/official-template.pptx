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6b2788cdbe65c0ea_1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h6b2788cdbe65c0ea_1_0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6b2788cdbe65c0ea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6b2788cdbe65c0ea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6b2788cdbe65c0ea_1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6b2788cdbe65c0ea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6b2788cdbe65c0ea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6b2788cdbe65c0ea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6b2788cdbe65c0ea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6b2788cdbe65c0ea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6b2788cdbe65c0ea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6b2788cdbe65c0ea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6b2788cdbe65c0ea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6b2788cdbe65c0ea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6b2788cdbe65c0ea_1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6b2788cdbe65c0ea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6b2788cdbe65c0ea_1_6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h6b2788cdbe65c0ea_1_65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4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1B4C"/>
            </a:gs>
            <a:gs pos="100000">
              <a:srgbClr val="AB0761"/>
            </a:gs>
          </a:gsLst>
          <a:lin ang="2700006" scaled="0"/>
        </a:gra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597450" y="4235100"/>
            <a:ext cx="2423155" cy="456311"/>
            <a:chOff x="0" y="-9525"/>
            <a:chExt cx="1344032" cy="415925"/>
          </a:xfrm>
        </p:grpSpPr>
        <p:sp>
          <p:nvSpPr>
            <p:cNvPr id="59" name="Google Shape;59;p14"/>
            <p:cNvSpPr/>
            <p:nvPr/>
          </p:nvSpPr>
          <p:spPr>
            <a:xfrm>
              <a:off x="0" y="0"/>
              <a:ext cx="1344032" cy="406400"/>
            </a:xfrm>
            <a:custGeom>
              <a:rect b="b" l="l" r="r" t="t"/>
              <a:pathLst>
                <a:path extrusionOk="0" h="406400" w="1344032">
                  <a:moveTo>
                    <a:pt x="1140832" y="0"/>
                  </a:moveTo>
                  <a:cubicBezTo>
                    <a:pt x="1253056" y="0"/>
                    <a:pt x="1344032" y="90976"/>
                    <a:pt x="1344032" y="203200"/>
                  </a:cubicBezTo>
                  <a:cubicBezTo>
                    <a:pt x="1344032" y="315424"/>
                    <a:pt x="1253056" y="406400"/>
                    <a:pt x="114083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noFill/>
            <a:ln cap="sq" cmpd="sng" w="138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6450" lIns="66450" spcFirstLastPara="1" rIns="66450" wrap="square" tIns="6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0" y="-9525"/>
              <a:ext cx="1344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900" lIns="36900" spcFirstLastPara="1" rIns="36900" wrap="square" tIns="369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14"/>
          <p:cNvSpPr txBox="1"/>
          <p:nvPr/>
        </p:nvSpPr>
        <p:spPr>
          <a:xfrm>
            <a:off x="531150" y="1979650"/>
            <a:ext cx="56106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Eclipse SDV Hackathon</a:t>
            </a:r>
            <a:r>
              <a:rPr lang="en" sz="2800">
                <a:solidFill>
                  <a:srgbClr val="FFFFFF"/>
                </a:solidFill>
              </a:rPr>
              <a:t> </a:t>
            </a:r>
            <a:r>
              <a:rPr b="1" lang="en" sz="2800">
                <a:solidFill>
                  <a:srgbClr val="DB521D"/>
                </a:solidFill>
              </a:rPr>
              <a:t>Chapter 4</a:t>
            </a:r>
            <a:endParaRPr b="1" sz="2800">
              <a:solidFill>
                <a:srgbClr val="DB521D"/>
              </a:solidFill>
            </a:endParaRPr>
          </a:p>
          <a:p>
            <a:pPr indent="0" lvl="0" marL="0" marR="0" rtl="0" algn="l">
              <a:lnSpc>
                <a:spcPct val="9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grpSp>
        <p:nvGrpSpPr>
          <p:cNvPr id="62" name="Google Shape;62;p14"/>
          <p:cNvGrpSpPr/>
          <p:nvPr/>
        </p:nvGrpSpPr>
        <p:grpSpPr>
          <a:xfrm>
            <a:off x="560650" y="2571750"/>
            <a:ext cx="4855381" cy="958407"/>
            <a:chOff x="0" y="-9525"/>
            <a:chExt cx="935400" cy="374100"/>
          </a:xfrm>
        </p:grpSpPr>
        <p:sp>
          <p:nvSpPr>
            <p:cNvPr id="63" name="Google Shape;63;p14"/>
            <p:cNvSpPr/>
            <p:nvPr/>
          </p:nvSpPr>
          <p:spPr>
            <a:xfrm>
              <a:off x="0" y="0"/>
              <a:ext cx="935371" cy="364517"/>
            </a:xfrm>
            <a:custGeom>
              <a:rect b="b" l="l" r="r" t="t"/>
              <a:pathLst>
                <a:path extrusionOk="0" h="364517" w="935371">
                  <a:moveTo>
                    <a:pt x="732171" y="0"/>
                  </a:moveTo>
                  <a:cubicBezTo>
                    <a:pt x="844395" y="0"/>
                    <a:pt x="935371" y="81600"/>
                    <a:pt x="935371" y="182258"/>
                  </a:cubicBezTo>
                  <a:cubicBezTo>
                    <a:pt x="935371" y="282917"/>
                    <a:pt x="844395" y="364517"/>
                    <a:pt x="732171" y="364517"/>
                  </a:cubicBezTo>
                  <a:lnTo>
                    <a:pt x="203200" y="364517"/>
                  </a:lnTo>
                  <a:cubicBezTo>
                    <a:pt x="90976" y="364517"/>
                    <a:pt x="0" y="282917"/>
                    <a:pt x="0" y="182258"/>
                  </a:cubicBezTo>
                  <a:cubicBezTo>
                    <a:pt x="0" y="81600"/>
                    <a:pt x="90976" y="0"/>
                    <a:pt x="203200" y="0"/>
                  </a:cubicBezTo>
                  <a:close/>
                </a:path>
              </a:pathLst>
            </a:custGeom>
            <a:noFill/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0" y="-9525"/>
              <a:ext cx="935400" cy="3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" name="Google Shape;65;p14"/>
          <p:cNvSpPr txBox="1"/>
          <p:nvPr/>
        </p:nvSpPr>
        <p:spPr>
          <a:xfrm>
            <a:off x="928825" y="4362650"/>
            <a:ext cx="176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October 6-8 </a:t>
            </a:r>
            <a:r>
              <a:rPr b="1" i="0" lang="en" sz="11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 2026</a:t>
            </a:r>
            <a:endParaRPr b="1" sz="700"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66" name="Google Shape;66;p14"/>
          <p:cNvCxnSpPr/>
          <p:nvPr/>
        </p:nvCxnSpPr>
        <p:spPr>
          <a:xfrm>
            <a:off x="656394" y="3946404"/>
            <a:ext cx="2148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4"/>
          <p:cNvSpPr/>
          <p:nvPr/>
        </p:nvSpPr>
        <p:spPr>
          <a:xfrm>
            <a:off x="2395624" y="512011"/>
            <a:ext cx="1376366" cy="702594"/>
          </a:xfrm>
          <a:custGeom>
            <a:rect b="b" l="l" r="r" t="t"/>
            <a:pathLst>
              <a:path extrusionOk="0" h="2284857" w="4475988">
                <a:moveTo>
                  <a:pt x="0" y="0"/>
                </a:moveTo>
                <a:lnTo>
                  <a:pt x="4475988" y="0"/>
                </a:lnTo>
                <a:lnTo>
                  <a:pt x="4475988" y="2284857"/>
                </a:lnTo>
                <a:lnTo>
                  <a:pt x="0" y="2284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200" l="-6430" r="-6420" t="0"/>
            </a:stretch>
          </a:blipFill>
          <a:ln>
            <a:noFill/>
          </a:ln>
        </p:spPr>
      </p:sp>
      <p:sp>
        <p:nvSpPr>
          <p:cNvPr id="68" name="Google Shape;68;p14"/>
          <p:cNvSpPr/>
          <p:nvPr/>
        </p:nvSpPr>
        <p:spPr>
          <a:xfrm>
            <a:off x="168246" y="329995"/>
            <a:ext cx="2423160" cy="1066609"/>
          </a:xfrm>
          <a:custGeom>
            <a:rect b="b" l="l" r="r" t="t"/>
            <a:pathLst>
              <a:path extrusionOk="0" h="2844292" w="6461760">
                <a:moveTo>
                  <a:pt x="0" y="0"/>
                </a:moveTo>
                <a:lnTo>
                  <a:pt x="6461760" y="0"/>
                </a:lnTo>
                <a:lnTo>
                  <a:pt x="6461760" y="2844292"/>
                </a:lnTo>
                <a:lnTo>
                  <a:pt x="0" y="2844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60" t="0"/>
            </a:stretch>
          </a:blipFill>
          <a:ln>
            <a:noFill/>
          </a:ln>
        </p:spPr>
      </p:sp>
      <p:pic>
        <p:nvPicPr>
          <p:cNvPr id="69" name="Google Shape;69;p14" title="2026_SDV_hackathon_logo_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2150" y="600425"/>
            <a:ext cx="3375951" cy="34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850225" y="2693325"/>
            <a:ext cx="41226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Pitching session / Name of the Team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227575" y="4779825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COPYRIGHT (C) 2026, ECLIPSE FOUNDATION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7" name="Google Shape;77;p15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712125" y="1146700"/>
            <a:ext cx="7360200" cy="3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Describe in a few words what the </a:t>
            </a:r>
            <a:r>
              <a:rPr b="1"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Initial Situation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was</a:t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Describe your solution in a few words, clear enough for the audience to understand </a:t>
            </a:r>
            <a:r>
              <a:rPr b="1"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you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your team </a:t>
            </a:r>
            <a:r>
              <a:rPr b="1"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are offering</a:t>
            </a:r>
            <a:endParaRPr b="1"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Short description of the </a:t>
            </a:r>
            <a:r>
              <a:rPr b="1"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Idea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you had in solving the challenge</a:t>
            </a:r>
            <a:b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Short description of the </a:t>
            </a:r>
            <a:r>
              <a:rPr b="1"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Plan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you had in solving the challenge</a:t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The Plan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5" name="Google Shape;85;p16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712125" y="1146700"/>
            <a:ext cx="7360200" cy="3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Briefly introduce the members of the team and what role each of them played</a:t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Team and Structure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3" name="Google Shape;93;p17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712125" y="1146700"/>
            <a:ext cx="7360200" cy="3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Briefly describe the </a:t>
            </a:r>
            <a:r>
              <a:rPr b="1"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Product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or the </a:t>
            </a:r>
            <a:r>
              <a:rPr b="1"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that is the outcome of your solution</a:t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The Product / Service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1" name="Google Shape;101;p18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712125" y="1146700"/>
            <a:ext cx="7360200" cy="3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Explain what the </a:t>
            </a:r>
            <a:r>
              <a:rPr b="1"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Added Value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your solution / product / service is.</a:t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Explain why you think your solution is better than the other ones out there.</a:t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The Added Value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9" name="Google Shape;109;p19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712125" y="1146700"/>
            <a:ext cx="7360200" cy="3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Make a case on the </a:t>
            </a:r>
            <a:r>
              <a:rPr b="1"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Market Potential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for a product / service like yours</a:t>
            </a:r>
            <a:b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Enumerate your </a:t>
            </a:r>
            <a:r>
              <a:rPr b="1"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Competitors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explain how you differ from them.</a:t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The Market &amp; Competition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7" name="Google Shape;117;p20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712125" y="1146700"/>
            <a:ext cx="7360200" cy="3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Explain how you envision generating sales for your product or service.</a:t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Describe the way you envision implementing the business model.</a:t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Enumerate what the required funds would be and explain what they’d be used for.</a:t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The Business Model | Plan and Funds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5" name="Google Shape;125;p21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 txBox="1"/>
          <p:nvPr/>
        </p:nvSpPr>
        <p:spPr>
          <a:xfrm>
            <a:off x="712125" y="1146700"/>
            <a:ext cx="7360200" cy="3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List the contact details of the people in charge of the different aspects of the “business”.</a:t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Contact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1B4C"/>
            </a:gs>
            <a:gs pos="100000">
              <a:srgbClr val="AB0761"/>
            </a:gs>
          </a:gsLst>
          <a:lin ang="2700006" scaled="0"/>
        </a:gra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22"/>
          <p:cNvGrpSpPr/>
          <p:nvPr/>
        </p:nvGrpSpPr>
        <p:grpSpPr>
          <a:xfrm>
            <a:off x="597450" y="4235100"/>
            <a:ext cx="2423155" cy="456311"/>
            <a:chOff x="0" y="-9525"/>
            <a:chExt cx="1344032" cy="415925"/>
          </a:xfrm>
        </p:grpSpPr>
        <p:sp>
          <p:nvSpPr>
            <p:cNvPr id="133" name="Google Shape;133;p22"/>
            <p:cNvSpPr/>
            <p:nvPr/>
          </p:nvSpPr>
          <p:spPr>
            <a:xfrm>
              <a:off x="0" y="0"/>
              <a:ext cx="1344032" cy="406400"/>
            </a:xfrm>
            <a:custGeom>
              <a:rect b="b" l="l" r="r" t="t"/>
              <a:pathLst>
                <a:path extrusionOk="0" h="406400" w="1344032">
                  <a:moveTo>
                    <a:pt x="1140832" y="0"/>
                  </a:moveTo>
                  <a:cubicBezTo>
                    <a:pt x="1253056" y="0"/>
                    <a:pt x="1344032" y="90976"/>
                    <a:pt x="1344032" y="203200"/>
                  </a:cubicBezTo>
                  <a:cubicBezTo>
                    <a:pt x="1344032" y="315424"/>
                    <a:pt x="1253056" y="406400"/>
                    <a:pt x="114083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noFill/>
            <a:ln cap="sq" cmpd="sng" w="138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6450" lIns="66450" spcFirstLastPara="1" rIns="66450" wrap="square" tIns="6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2"/>
            <p:cNvSpPr txBox="1"/>
            <p:nvPr/>
          </p:nvSpPr>
          <p:spPr>
            <a:xfrm>
              <a:off x="0" y="-9525"/>
              <a:ext cx="1344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900" lIns="36900" spcFirstLastPara="1" rIns="36900" wrap="square" tIns="369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22"/>
          <p:cNvSpPr txBox="1"/>
          <p:nvPr/>
        </p:nvSpPr>
        <p:spPr>
          <a:xfrm>
            <a:off x="531150" y="1979650"/>
            <a:ext cx="56106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</a:rPr>
              <a:t>Thank You Slide</a:t>
            </a:r>
            <a:endParaRPr b="1" sz="2800">
              <a:solidFill>
                <a:srgbClr val="DB521D"/>
              </a:solidFill>
            </a:endParaRPr>
          </a:p>
          <a:p>
            <a:pPr indent="0" lvl="0" marL="0" marR="0" rtl="0" algn="l">
              <a:lnSpc>
                <a:spcPct val="9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grpSp>
        <p:nvGrpSpPr>
          <p:cNvPr id="136" name="Google Shape;136;p22"/>
          <p:cNvGrpSpPr/>
          <p:nvPr/>
        </p:nvGrpSpPr>
        <p:grpSpPr>
          <a:xfrm>
            <a:off x="560650" y="2571750"/>
            <a:ext cx="4855381" cy="958407"/>
            <a:chOff x="0" y="-9525"/>
            <a:chExt cx="935400" cy="374100"/>
          </a:xfrm>
        </p:grpSpPr>
        <p:sp>
          <p:nvSpPr>
            <p:cNvPr id="137" name="Google Shape;137;p22"/>
            <p:cNvSpPr/>
            <p:nvPr/>
          </p:nvSpPr>
          <p:spPr>
            <a:xfrm>
              <a:off x="0" y="0"/>
              <a:ext cx="935371" cy="364517"/>
            </a:xfrm>
            <a:custGeom>
              <a:rect b="b" l="l" r="r" t="t"/>
              <a:pathLst>
                <a:path extrusionOk="0" h="364517" w="935371">
                  <a:moveTo>
                    <a:pt x="732171" y="0"/>
                  </a:moveTo>
                  <a:cubicBezTo>
                    <a:pt x="844395" y="0"/>
                    <a:pt x="935371" y="81600"/>
                    <a:pt x="935371" y="182258"/>
                  </a:cubicBezTo>
                  <a:cubicBezTo>
                    <a:pt x="935371" y="282917"/>
                    <a:pt x="844395" y="364517"/>
                    <a:pt x="732171" y="364517"/>
                  </a:cubicBezTo>
                  <a:lnTo>
                    <a:pt x="203200" y="364517"/>
                  </a:lnTo>
                  <a:cubicBezTo>
                    <a:pt x="90976" y="364517"/>
                    <a:pt x="0" y="282917"/>
                    <a:pt x="0" y="182258"/>
                  </a:cubicBezTo>
                  <a:cubicBezTo>
                    <a:pt x="0" y="81600"/>
                    <a:pt x="90976" y="0"/>
                    <a:pt x="203200" y="0"/>
                  </a:cubicBezTo>
                  <a:close/>
                </a:path>
              </a:pathLst>
            </a:custGeom>
            <a:noFill/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2"/>
            <p:cNvSpPr txBox="1"/>
            <p:nvPr/>
          </p:nvSpPr>
          <p:spPr>
            <a:xfrm>
              <a:off x="0" y="-9525"/>
              <a:ext cx="935400" cy="3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22"/>
          <p:cNvSpPr txBox="1"/>
          <p:nvPr/>
        </p:nvSpPr>
        <p:spPr>
          <a:xfrm>
            <a:off x="928825" y="4362650"/>
            <a:ext cx="176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October 6-8 </a:t>
            </a:r>
            <a:r>
              <a:rPr b="1" i="0" lang="en" sz="11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 2026</a:t>
            </a:r>
            <a:endParaRPr b="1" sz="700"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40" name="Google Shape;140;p22"/>
          <p:cNvCxnSpPr/>
          <p:nvPr/>
        </p:nvCxnSpPr>
        <p:spPr>
          <a:xfrm>
            <a:off x="656394" y="3946404"/>
            <a:ext cx="2148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22"/>
          <p:cNvSpPr/>
          <p:nvPr/>
        </p:nvSpPr>
        <p:spPr>
          <a:xfrm>
            <a:off x="2395624" y="512011"/>
            <a:ext cx="1376366" cy="702594"/>
          </a:xfrm>
          <a:custGeom>
            <a:rect b="b" l="l" r="r" t="t"/>
            <a:pathLst>
              <a:path extrusionOk="0" h="2284857" w="4475988">
                <a:moveTo>
                  <a:pt x="0" y="0"/>
                </a:moveTo>
                <a:lnTo>
                  <a:pt x="4475988" y="0"/>
                </a:lnTo>
                <a:lnTo>
                  <a:pt x="4475988" y="2284857"/>
                </a:lnTo>
                <a:lnTo>
                  <a:pt x="0" y="2284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200" l="-6430" r="-6420" t="0"/>
            </a:stretch>
          </a:blipFill>
          <a:ln>
            <a:noFill/>
          </a:ln>
        </p:spPr>
      </p:sp>
      <p:sp>
        <p:nvSpPr>
          <p:cNvPr id="142" name="Google Shape;142;p22"/>
          <p:cNvSpPr/>
          <p:nvPr/>
        </p:nvSpPr>
        <p:spPr>
          <a:xfrm>
            <a:off x="168246" y="329995"/>
            <a:ext cx="2423160" cy="1066609"/>
          </a:xfrm>
          <a:custGeom>
            <a:rect b="b" l="l" r="r" t="t"/>
            <a:pathLst>
              <a:path extrusionOk="0" h="2844292" w="6461760">
                <a:moveTo>
                  <a:pt x="0" y="0"/>
                </a:moveTo>
                <a:lnTo>
                  <a:pt x="6461760" y="0"/>
                </a:lnTo>
                <a:lnTo>
                  <a:pt x="6461760" y="2844292"/>
                </a:lnTo>
                <a:lnTo>
                  <a:pt x="0" y="2844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60" t="0"/>
            </a:stretch>
          </a:blipFill>
          <a:ln>
            <a:noFill/>
          </a:ln>
        </p:spPr>
      </p:sp>
      <p:pic>
        <p:nvPicPr>
          <p:cNvPr id="143" name="Google Shape;143;p22" title="2026_SDV_hackathon_logo_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2150" y="600425"/>
            <a:ext cx="3375951" cy="34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/>
        </p:nvSpPr>
        <p:spPr>
          <a:xfrm>
            <a:off x="850225" y="2767913"/>
            <a:ext cx="4122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Thank your audience and encourage them to get in touch afterwards.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3227575" y="4779825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COPYRIGHT (C) 2026, ECLIPSE FOUNDATION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