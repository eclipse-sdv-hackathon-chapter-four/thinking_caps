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5" r:id="rId15"/>
    <p:sldId id="264" r:id="rId14"/>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6b2788cdbe65c0ea_1_0:notes"/>
          <p:cNvSpPr txBox="1"/>
          <p:nvPr>
            <p:ph idx="1" type="body"/>
          </p:nvPr>
        </p:nvSpPr>
        <p:spPr>
          <a:xfrm>
            <a:off x="914400" y="3251200"/>
            <a:ext cx="7315200" cy="3081300"/>
          </a:xfrm>
          <a:prstGeom prst="rect">
            <a:avLst/>
          </a:prstGeom>
        </p:spPr>
        <p:txBody>
          <a:bodyPr anchorCtr="0" anchor="t" bIns="91425" lIns="91425" spcFirstLastPara="1" rIns="91425" wrap="square" tIns="91425">
            <a:noAutofit/>
          </a:bodyPr>
          <a:lstStyle/>
          <a:p>
            <a:r>
              <a:t>We are Thinking CAPs: five contributors working across vehicle architecture, middleware, diagnostics, simulation and testing. Our goal is to make Eclipse SDV integration observable and leave useful contributions that the community can review and continue. We will show our upstream changes, their validation, and the connected vehicle evidence. Some core work was prepared on 4 October; the hardware and gateway work includes 6–7 October results. The repository separates prepared assets from event work.</a:t>
            </a:r>
          </a:p>
          <a:p/>
          <a:p>
            <a:r>
              <a:t>Evidence:</a:t>
            </a:r>
          </a:p>
          <a:p>
            <a:r>
              <a:t>Team repository: https://github.com/Eclipse-SDV-Hackathon-Chapter-Four/Thinking_CAPs</a:t>
            </a:r>
          </a:p>
          <a:p>
            <a:r>
              <a:t>Prepared-work inventory: https://github.com/Eclipse-SDV-Hackathon-Chapter-Four/Thinking_CAPs/blob/38fbb58b4420365a8c02de1552ed983d51e9a499/docs/prepared-work.md</a:t>
            </a:r>
          </a:p>
        </p:txBody>
      </p:sp>
      <p:sp>
        <p:nvSpPr>
          <p:cNvPr id="56" name="Google Shape;56;h6b2788cdbe65c0ea_1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6b2788cdbe65c0ea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6b2788cdbe65c0ea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contribution portfolio starts with existing project needs. Communication issue 1167 lacked dedicated integration coverage for repeated COM API calls. PR 1335 adds that coverage without changing production APIs. Diagnostics issue 16 needs S-CORE diagnostic resources exposed through OpenSOVD; PR 40 adds the provider adapter. OpenBSW lacked logical-address routing between DoIP and CAN targets; our local transportRouter contribution adds it with tests and a maintainer-facing packet. These are three distinct reviewable scopes. Submitted means open for upstream review, not accepted or merged. Lifecycle configuration deduplication, the SOME/IP registration fix and the fault-storage write-through patch are supporting contributions, with separate records.</a:t>
            </a:r>
          </a:p>
          <a:p/>
          <a:p>
            <a:r>
              <a:t>Evidence:</a:t>
            </a:r>
          </a:p>
          <a:p>
            <a:r>
              <a:t>COM PR #1335: https://github.com/eclipse-score/communication/pull/1335</a:t>
            </a:r>
          </a:p>
          <a:p>
            <a:r>
              <a:t>Diagnostics PR #40: https://github.com/eclipse-score/inc_diagnostics/pull/40</a:t>
            </a:r>
          </a:p>
          <a:p>
            <a:r>
              <a:t>OpenBSW contribution: https://github.com/Eclipse-SDV-Hackathon-Chapter-Four/Thinking_CAPs/blob/38fbb58b4420365a8c02de1552ed983d51e9a499/contributions/openbsw-transport-router/README.md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6b2788cdbe65c0ea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6b2788cdbe65c0ea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numbers here are retained measurements on explicitly recorded baselines, not new executions during presentation creation. Communication 1167 records 503 passing tests and six skipped platform or configuration targets. Its measured copyright result retains 204 inherited findings with no added findings; these still need upstream disposition. Lifecycle 704 records 113 passing native cases. The OpenBSW contribution packet records 46 passing unit tests, two Bazel tests and 28 passing host gateway integration tests. Its larger application report still has a bus-load failure and unrun integration campaigns. Our software-factory workflows produce patches and evidence; deterministic checks decide results and human acceptance remains explicit. PR 40 still needs author/ECA resolution and native published-revision validation. We do not infer production qualification, full platform coverage or upstream acceptance from these results.</a:t>
            </a:r>
          </a:p>
          <a:p/>
          <a:p>
            <a:r>
              <a:t>Evidence:</a:t>
            </a:r>
          </a:p>
          <a:p>
            <a:r>
              <a:t>COM validation: https://github.com/Eclipse-SDV-Hackathon-Chapter-Four/Thinking_CAPs/blob/38fbb58b4420365a8c02de1552ed983d51e9a499/contributions/communication-1167/README.md</a:t>
            </a:r>
          </a:p>
          <a:p>
            <a:r>
              <a:t>Lifecycle #704: https://github.com/Eclipse-SDV-Hackathon-Chapter-Four/Thinking_CAPs/blob/38fbb58b4420365a8c02de1552ed983d51e9a499/contributions/issues/eclipse-score/lifecycle/704/README.md</a:t>
            </a:r>
          </a:p>
          <a:p>
            <a:r>
              <a:t>OpenBSW native gates: https://github.com/Eclipse-SDV-Hackathon-Chapter-Four/Thinking_CAPs/blob/38fbb58b4420365a8c02de1552ed983d51e9a499/contributions/openbsw-transport-router/validation.md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6b2788cdbe65c0e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6b2788cdbe65c0e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Follow the first integration: CARLA and the existing X-Verse vehicle bridge feed the actual S-CORE receiver. The openDuT-managed path carries the selected SOME/IP traffic. Receiver instrumentation and a separate OpenSOVD provider expose the accepted state, freshness and native fault history through a labelled App-data fallback. The project campaign controls disturbances; we do not claim native VIPER execution. In the separate lighting integration, X-Verse carries vehicle status to actual ThreadX on an AZ3166 board using UART/SLCAN, and the board decision returns to CARLA lamps. AutoSD is a separately verified guest target for the Linux ThreadX lighting runtime, bridge and native OpenSOVD provider. These are distinct tested configurations, not a claim that all components form one simultaneously validated chain. The reusable value is the contracts, deployment patterns and evidence linking observations to behavior.</a:t>
            </a:r>
          </a:p>
          <a:p/>
          <a:p>
            <a:r>
              <a:t>Evidence:</a:t>
            </a:r>
          </a:p>
          <a:p>
            <a:r>
              <a:t>Receiver campaign: https://github.com/Eclipse-SDV-Hackathon-Chapter-Four/Thinking_CAPs/blob/38fbb58b4420365a8c02de1552ed983d51e9a499/docs/reproduction.md</a:t>
            </a:r>
          </a:p>
          <a:p>
            <a:r>
              <a:t>Physical ThreadX: https://github.com/Eclipse-SDV-Hackathon-Chapter-Four/Thinking_CAPs/blob/38fbb58b4420365a8c02de1552ed983d51e9a499/ThreadX/az3166/README.md</a:t>
            </a:r>
          </a:p>
          <a:p>
            <a:r>
              <a:t>AutoSD guest evidence: https://github.com/Eclipse-SDV-Hackathon-Chapter-Four/Thinking_CAPs/blob/38fbb58b4420365a8c02de1552ed983d51e9a499/AutoSD/artifacts/README.md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6b2788cdbe65c0ea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6b2788cdbe65c0ea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handover includes source and tool pins, configuration, manifests, expected verdicts, teardown instructions, and known limitations. A contributor can inspect the patch, rebuild on the documented baseline, run the selected campaign and compare results. The current reference-host instructions still require adapting local paths and acquiring some cached images. Source-clean self-reproduction shares this host, images and LLVM; independent human and cold-machine reproduction remain unattested. The contribution hash verifier currently finds a working-tree mismatch in the 1261 README, which must be reconciled on the final submission revision. AutoSD artifact and current-source verification passed during this review. Hash integrity proves identity, not functional correctness. We provide both patch-level follow-up and integration-level continuation.</a:t>
            </a:r>
          </a:p>
          <a:p/>
          <a:p>
            <a:r>
              <a:t>Evidence:</a:t>
            </a:r>
          </a:p>
          <a:p>
            <a:r>
              <a:t>Reproduction guide: https://github.com/Eclipse-SDV-Hackathon-Chapter-Four/Thinking_CAPs/blob/38fbb58b4420365a8c02de1552ed983d51e9a499/docs/reproduction.md</a:t>
            </a:r>
          </a:p>
          <a:p>
            <a:r>
              <a:t>Contribution registry: https://github.com/Eclipse-SDV-Hackathon-Chapter-Four/Thinking_CAPs/blob/38fbb58b4420365a8c02de1552ed983d51e9a499/contributions/README.md</a:t>
            </a:r>
          </a:p>
          <a:p>
            <a:r>
              <a:t>AutoSD verification: https://github.com/Eclipse-SDV-Hackathon-Chapter-Four/Thinking_CAPs/blob/38fbb58b4420365a8c02de1552ed983d51e9a499/AutoSD/artifacts/README.md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6b2788cdbe65c0ea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6b2788cdbe65c0ea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For the demonstration, show four transitions: fresh accepted receiver data; managed communication interruption; stale input and activated fault history while diagnosis remains reachable; then restored traffic, recovery and retained history. Use a current live run only after the environment is ready. If it is not ready, identify the saved physical replay as a recorded 4 October run. The image on this slide is historical evidence from that recorded native campaign. Fault history uses a labelled App-data fallback, not native faults routing. Monitor recovery does not imply automatic cruise re-engagement. The screenshot does not claim exposed control output or E2E sample integrity. After the flow, open a selected PR or patch and its native test record so the handover is concrete.</a:t>
            </a:r>
          </a:p>
          <a:p/>
          <a:p>
            <a:r>
              <a:t>Evidence:</a:t>
            </a:r>
          </a:p>
          <a:p>
            <a:r>
              <a:t>Physical verdicts: https://github.com/Eclipse-SDV-Hackathon-Chapter-Four/Thinking_CAPs/blob/38fbb58b4420365a8c02de1552ed983d51e9a499/evidence/f009-reproduction-physical/results.json</a:t>
            </a:r>
          </a:p>
          <a:p>
            <a:r>
              <a:t>Dashboard evidence: https://github.com/Eclipse-SDV-Hackathon-Chapter-Four/Thinking_CAPs/blob/38fbb58b4420365a8c02de1552ed983d51e9a499/evidence/f010-live/verification.json</a:t>
            </a:r>
          </a:p>
          <a:p>
            <a:r>
              <a:t>Saved physical replay: https://github.com/Eclipse-SDV-Hackathon-Chapter-Four/Thinking_CAPs/tree/38fbb58b4420365a8c02de1552ed983d51e9a499/evidence/f009-recorded-replay-final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6b2788cdbe65c0ea_1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6b2788cdbe65c0ea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Maintainers can review bounded patches with native measurements instead of reverse engineering a broad demo. Integrators can reuse diagnostic resource adapters, receiver observation contracts, CAN lighting contracts and the managed testbench pattern. Test engineers can reproduce interruption and recovery with machine-readable verdicts and labelled historical evidence. Our next steps are concrete: validate and resolve remaining upstream gates on the selected PRs; coordinate the OpenBSW router issue and contribution; then have another contributor exercise the integration path. We propose reuse through a Blueprint-style integration pattern, but do not claim an accepted Blueprint or quantified engineering savings. The benefit is a practical review and reproduction path across projects.</a:t>
            </a:r>
          </a:p>
          <a:p/>
          <a:p>
            <a:r>
              <a:t>Evidence:</a:t>
            </a:r>
          </a:p>
          <a:p>
            <a:r>
              <a:t>Maintainer PR: https://github.com/eclipse-score/communication/pull/1335</a:t>
            </a:r>
          </a:p>
          <a:p>
            <a:r>
              <a:t>Integration handover: https://github.com/Eclipse-SDV-Hackathon-Chapter-Four/Thinking_CAPs/blob/38fbb58b4420365a8c02de1552ed983d51e9a499/docs/handover.md</a:t>
            </a:r>
          </a:p>
          <a:p>
            <a:r>
              <a:t>Router continuation: https://github.com/Eclipse-SDV-Hackathon-Chapter-Four/Thinking_CAPs/blob/38fbb58b4420365a8c02de1552ed983d51e9a499/contributions/openbsw-transport-router/README.md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6b2788cdbe65c0ea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6b2788cdbe65c0ea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deliberately connect our work to existing Eclipse project needs. Communication 1167 moved from a test gap to submitted PR 1335; the next step is native CI and maintainer review. Diagnostics 16 moved to submitted PR 40 with an OpenSOVD provider adapter; remaining author agreement and functional validation are explicit. Lifecycle 704 has a measured configuration-generation patch with 113 native passing cases and a prepared upstream submission. OpenBSW logical-address routing emerged from our integration need and has a verified local module plus an issue draft for approach agreement. Jefferson owns architecture, factory work and ECU contributions; Bruno owns S-CORE and X-Verse integration; Puru owns diagnostic adapters and the dashboard path; Yasser supports OpenSOVD, review and documentation; Siva supports openDuT and test evidence. Prepared core work dates to 4 October; the hardware and gateway have event-time results on 6–7 October. The final event delta and the actual day-one declaration must be recorded, rather than inferred.</a:t>
            </a:r>
          </a:p>
          <a:p/>
          <a:p>
            <a:r>
              <a:t>Evidence:</a:t>
            </a:r>
          </a:p>
          <a:p>
            <a:r>
              <a:t>Existing COM issue: https://github.com/eclipse-score/communication/issues/1167</a:t>
            </a:r>
          </a:p>
          <a:p>
            <a:r>
              <a:t>Existing diagnostics issue: https://github.com/eclipse-score/inc_diagnostics/issues/16</a:t>
            </a:r>
          </a:p>
          <a:p>
            <a:r>
              <a:t>Lifecycle #704: https://github.com/Eclipse-SDV-Hackathon-Chapter-Four/Thinking_CAPs/blob/38fbb58b4420365a8c02de1552ed983d51e9a499/contributions/issues/eclipse-score/lifecycle/704/README.md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6b2788cdbe65c0ea_1_65:notes"/>
          <p:cNvSpPr txBox="1"/>
          <p:nvPr>
            <p:ph idx="1" type="body"/>
          </p:nvPr>
        </p:nvSpPr>
        <p:spPr>
          <a:xfrm>
            <a:off x="914400" y="3251200"/>
            <a:ext cx="7315200" cy="3081300"/>
          </a:xfrm>
          <a:prstGeom prst="rect">
            <a:avLst/>
          </a:prstGeom>
        </p:spPr>
        <p:txBody>
          <a:bodyPr anchorCtr="0" anchor="t" bIns="91425" lIns="91425" spcFirstLastPara="1" rIns="91425" wrap="square" tIns="91425">
            <a:noAutofit/>
          </a:bodyPr>
          <a:lstStyle/>
          <a:p>
            <a:r>
              <a:t>Our handover is code, evidence and a next step. Review the selected contributions, repeat the campaign and help make this integration easier for the next Eclipse SDV contributor. Thank you.</a:t>
            </a:r>
          </a:p>
          <a:p/>
          <a:p>
            <a:r>
              <a:t>Evidence:</a:t>
            </a:r>
          </a:p>
          <a:p>
            <a:r>
              <a:t>Repository: https://github.com/Eclipse-SDV-Hackathon-Chapter-Four/Thinking_CAPs</a:t>
            </a:r>
          </a:p>
        </p:txBody>
      </p:sp>
      <p:sp>
        <p:nvSpPr>
          <p:cNvPr id="130" name="Google Shape;130;h6b2788cdbe65c0ea_1_6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openDuT is used in the managed network and disturbance campaign. ThreadX is actual runtime code in both Linux simulation and the AZ3166 embedded target. AutoSD is a real QEMU/KVM deployment target with build, diagnostics, interruption, recovery and reboot evidence. Under the official scorecard each meaningful technology can add 0.10, subject to evaluator acceptance and the final score cap. This supports asking evaluators to inspect three technologies, not claiming a bonus already awarded. Java/Jakarta has not been established as a qualifying implemented component by this review. No extra runtime was introduced merely as a slide label.</a:t>
            </a:r>
          </a:p>
          <a:p/>
          <a:p>
            <a:r>
              <a:t>Evidence:</a:t>
            </a:r>
          </a:p>
          <a:p>
            <a:r>
              <a:t>openDuT testbench: https://github.com/Eclipse-SDV-Hackathon-Chapter-Four/Thinking_CAPs/blob/38fbb58b4420365a8c02de1552ed983d51e9a499/OpenDut/README.md</a:t>
            </a:r>
          </a:p>
          <a:p>
            <a:r>
              <a:t>ThreadX hardware: https://github.com/Eclipse-SDV-Hackathon-Chapter-Four/Thinking_CAPs/blob/38fbb58b4420365a8c02de1552ed983d51e9a499/ThreadX/artifacts/az3166-uart-can/results.json</a:t>
            </a:r>
          </a:p>
          <a:p>
            <a:r>
              <a:t>AutoSD VM: https://github.com/Eclipse-SDV-Hackathon-Chapter-Four/Thinking_CAPs/blob/38fbb58b4420365a8c02de1552ed983d51e9a499/AutoSD/artifacts/vehicle-computer/results.json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Use this slide for questions. The contribution and evidence links are pinned to inspected origin/main revision 38fbb58b. PR links are live and their status can change. Measurements are retained original records. The current deck was authored from inspected local work and origin/main; it is not an attestation that every latest working-tree update is published. Check the final submission revision before presenting.</a:t>
            </a:r>
          </a:p>
          <a:p/>
          <a:p>
            <a:r>
              <a:t>Evidence:</a:t>
            </a:r>
          </a:p>
          <a:p/>
          <a:p>
            <a:r>
              <a:t>COM #1167 / native evidence: https://github.com/Eclipse-SDV-Hackathon-Chapter-Four/Thinking_CAPs/blob/38fbb58b4420365a8c02de1552ed983d51e9a499/contributions/communication-1167/README.md</a:t>
            </a:r>
          </a:p>
          <a:p>
            <a:r>
              <a:t>Lifecycle #704 / 113 cases: https://github.com/Eclipse-SDV-Hackathon-Chapter-Four/Thinking_CAPs/blob/38fbb58b4420365a8c02de1552ed983d51e9a499/contributions/issues/eclipse-score/lifecycle/704/README.md</a:t>
            </a:r>
          </a:p>
          <a:p>
            <a:r>
              <a:t>OpenBSW router / native gates: https://github.com/Eclipse-SDV-Hackathon-Chapter-Four/Thinking_CAPs/blob/38fbb58b4420365a8c02de1552ed983d51e9a499/contributions/openbsw-transport-router/validation.md</a:t>
            </a:r>
          </a:p>
          <a:p>
            <a:r>
              <a:t>Receiver / physical verdicts: https://github.com/Eclipse-SDV-Hackathon-Chapter-Four/Thinking_CAPs/blob/38fbb58b4420365a8c02de1552ed983d51e9a499/evidence/f009-reproduction-physical/results.json</a:t>
            </a:r>
          </a:p>
          <a:p>
            <a:r>
              <a:t>Dashboard / API and browser checks: https://github.com/Eclipse-SDV-Hackathon-Chapter-Four/Thinking_CAPs/blob/38fbb58b4420365a8c02de1552ed983d51e9a499/evidence/f010-live/verification.json</a:t>
            </a:r>
          </a:p>
          <a:p>
            <a:r>
              <a:t>ThreadX / hardware and CARLA: https://github.com/Eclipse-SDV-Hackathon-Chapter-Four/Thinking_CAPs/blob/38fbb58b4420365a8c02de1552ed983d51e9a499/ThreadX/artifacts/az3166-xverse-carla/results.json</a:t>
            </a:r>
          </a:p>
          <a:p>
            <a:r>
              <a:t>AutoSD / guest and source identities: https://github.com/Eclipse-SDV-Hackathon-Chapter-Four/Thinking_CAPs/blob/38fbb58b4420365a8c02de1552ed983d51e9a499/AutoSD/artifacts/README.md</a:t>
            </a:r>
          </a:p>
          <a:p>
            <a:r>
              <a:t>Fault storage / regression and patch: https://github.com/Eclipse-SDV-Hackathon-Chapter-Four/Thinking_CAPs/blob/38fbb58b4420365a8c02de1552ed983d51e9a499/OpenSOVD/contributions/fault-storage-write-through/README.md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official native template is [EF_SDV_Hackathon_2026] - Pitching Slides Template, linked from page five of the pitching-session PDF. We retained its cover, closing, branding, white content family and copyright footers, and adapted its narrative content for Freestyle. The source attribution and CC-BY-SA 4.0 notice are preserved. This adaptation is also made available under CC-BY-SA 4.0. Prepared-code disclosure is a separate organizer record; this slide does not attest it. The pitch target is 9 minutes 30 seconds; appendix slides are for questions.</a:t>
            </a:r>
          </a:p>
          <a:p/>
          <a:p>
            <a:r>
              <a:t>Evidence:</a:t>
            </a:r>
          </a:p>
          <a:p>
            <a:r>
              <a:t>Official slide template: https://docs.google.com/presentation/d/1LxFKeG0z-uxOMgOhZX4OWIPQG5Vmeo1Tptall_lJ0_Y/edit</a:t>
            </a:r>
          </a:p>
          <a:p>
            <a:r>
              <a:t>Pitching-session guide: https://github.com/Eclipse-SDV-Hackathon-Chapter-Four/.github/blob/main/profile/SDV%20Hackathon%202026_Pitching%20Session.pdf</a:t>
            </a:r>
          </a:p>
          <a:p>
            <a:r>
              <a:t>Freestyle scorecard: https://github.com/Eclipse-SDV-Hackathon-Chapter-Four/.github/blob/main/profile/Eclipse_SDV_Hackathon_2026_EvaluationForms.pdf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4">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github.com/eclipse-score/communication/pull/1335" TargetMode="External"/><Relationship Id="rId5" Type="http://schemas.openxmlformats.org/officeDocument/2006/relationships/hyperlink" Target="https://github.com/eclipse-score/inc_diagnostics/pull/40" TargetMode="External"/><Relationship Id="rId6" Type="http://schemas.openxmlformats.org/officeDocument/2006/relationships/hyperlink" Target="https://github.com/Eclipse-SDV-Hackathon-Chapter-Four/Thinking_CAPs/blob/38fbb58b4420365a8c02de1552ed983d51e9a499/contributions/openbsw-transport-router/README.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s://github.com/Eclipse-SDV-Hackathon-Chapter-Four/Thinking_CAPs/blob/38fbb58b4420365a8c02de1552ed983d51e9a499/contributions/communication-1167/README.md" TargetMode="External"/><Relationship Id="rId5" Type="http://schemas.openxmlformats.org/officeDocument/2006/relationships/hyperlink" Target="https://github.com/Eclipse-SDV-Hackathon-Chapter-Four/Thinking_CAPs/blob/38fbb58b4420365a8c02de1552ed983d51e9a499/contributions/issues/eclipse-score/lifecycle/704/README.md" TargetMode="External"/><Relationship Id="rId6" Type="http://schemas.openxmlformats.org/officeDocument/2006/relationships/hyperlink" Target="https://github.com/Eclipse-SDV-Hackathon-Chapter-Four/Thinking_CAPs/blob/38fbb58b4420365a8c02de1552ed983d51e9a499/contributions/openbsw-transport-router/validation.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hyperlink" Target="https://github.com/Eclipse-SDV-Hackathon-Chapter-Four/Thinking_CAPs/blob/38fbb58b4420365a8c02de1552ed983d51e9a499/docs/reproduction.md" TargetMode="External"/><Relationship Id="rId5" Type="http://schemas.openxmlformats.org/officeDocument/2006/relationships/hyperlink" Target="https://github.com/Eclipse-SDV-Hackathon-Chapter-Four/Thinking_CAPs/blob/38fbb58b4420365a8c02de1552ed983d51e9a499/ThreadX/az3166/README.md" TargetMode="External"/><Relationship Id="rId6" Type="http://schemas.openxmlformats.org/officeDocument/2006/relationships/hyperlink" Target="https://github.com/Eclipse-SDV-Hackathon-Chapter-Four/Thinking_CAPs/blob/38fbb58b4420365a8c02de1552ed983d51e9a499/AutoSD/artifacts/README.m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hyperlink" Target="https://github.com/Eclipse-SDV-Hackathon-Chapter-Four/Thinking_CAPs/blob/38fbb58b4420365a8c02de1552ed983d51e9a499/docs/reproduction.md" TargetMode="External"/><Relationship Id="rId5" Type="http://schemas.openxmlformats.org/officeDocument/2006/relationships/hyperlink" Target="https://github.com/Eclipse-SDV-Hackathon-Chapter-Four/Thinking_CAPs/blob/38fbb58b4420365a8c02de1552ed983d51e9a499/contributions/README.md" TargetMode="External"/><Relationship Id="rId6" Type="http://schemas.openxmlformats.org/officeDocument/2006/relationships/hyperlink" Target="https://github.com/Eclipse-SDV-Hackathon-Chapter-Four/Thinking_CAPs/blob/38fbb58b4420365a8c02de1552ed983d51e9a499/AutoSD/artifacts/README.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hyperlink" Target="https://github.com/Eclipse-SDV-Hackathon-Chapter-Four/Thinking_CAPs/blob/38fbb58b4420365a8c02de1552ed983d51e9a499/evidence/f009-reproduction-physical/results.json" TargetMode="External"/><Relationship Id="rId5" Type="http://schemas.openxmlformats.org/officeDocument/2006/relationships/hyperlink" Target="https://github.com/Eclipse-SDV-Hackathon-Chapter-Four/Thinking_CAPs/blob/38fbb58b4420365a8c02de1552ed983d51e9a499/evidence/f010-live/verification.json" TargetMode="External"/><Relationship Id="rId6" Type="http://schemas.openxmlformats.org/officeDocument/2006/relationships/hyperlink" Target="https://github.com/Eclipse-SDV-Hackathon-Chapter-Four/Thinking_CAPs/tree/38fbb58b4420365a8c02de1552ed983d51e9a499/evidence/f009-recorded-replay-final" TargetMode="External"/><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hyperlink" Target="https://github.com/eclipse-score/communication/pull/1335" TargetMode="External"/><Relationship Id="rId5" Type="http://schemas.openxmlformats.org/officeDocument/2006/relationships/hyperlink" Target="https://github.com/Eclipse-SDV-Hackathon-Chapter-Four/Thinking_CAPs/blob/38fbb58b4420365a8c02de1552ed983d51e9a499/docs/handover.md" TargetMode="External"/><Relationship Id="rId6" Type="http://schemas.openxmlformats.org/officeDocument/2006/relationships/hyperlink" Target="https://github.com/Eclipse-SDV-Hackathon-Chapter-Four/Thinking_CAPs/blob/38fbb58b4420365a8c02de1552ed983d51e9a499/contributions/openbsw-transport-router/README.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hyperlink" Target="https://github.com/eclipse-score/communication/issues/1167" TargetMode="External"/><Relationship Id="rId5" Type="http://schemas.openxmlformats.org/officeDocument/2006/relationships/hyperlink" Target="https://github.com/eclipse-score/inc_diagnostics/issues/16" TargetMode="External"/><Relationship Id="rId6" Type="http://schemas.openxmlformats.org/officeDocument/2006/relationships/hyperlink" Target="https://github.com/Eclipse-SDV-Hackathon-Chapter-Four/Thinking_CAPs/blob/38fbb58b4420365a8c02de1552ed983d51e9a499/contributions/issues/eclipse-score/lifecycle/704/README.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hyperlink" Target="https://github.com/Eclipse-SDV-Hackathon-Chapter-Four/Thinking_CAP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hyperlink" Target="https://github.com/eclipse-score/communication/pull/1335" TargetMode="External"/><Relationship Id="rId4" Type="http://schemas.openxmlformats.org/officeDocument/2006/relationships/hyperlink" Target="https://github.com/eclipse-score/inc_diagnostics/pull/40" TargetMode="External"/><Relationship Id="rId5" Type="http://schemas.openxmlformats.org/officeDocument/2006/relationships/hyperlink" Target="https://github.com/Eclipse-SDV-Hackathon-Chapter-Four/Thinking_CAPs/blob/38fbb58b4420365a8c02de1552ed983d51e9a499/contributions/openbsw-transport-router/README.md" TargetMode="External"/><Relationship Id="rId6" Type="http://schemas.openxmlformats.org/officeDocument/2006/relationships/hyperlink" Target="https://github.com/Eclipse-SDV-Hackathon-Chapter-Four/Thinking_CAPs/blob/38fbb58b4420365a8c02de1552ed983d51e9a499/OpenDut/README.md" TargetMode="External"/><Relationship Id="rId7" Type="http://schemas.openxmlformats.org/officeDocument/2006/relationships/hyperlink" Target="https://github.com/Eclipse-SDV-Hackathon-Chapter-Four/Thinking_CAPs/blob/38fbb58b4420365a8c02de1552ed983d51e9a499/ThreadX/artifacts/az3166-uart-can/results.json" TargetMode="External"/><Relationship Id="rId8" Type="http://schemas.openxmlformats.org/officeDocument/2006/relationships/hyperlink" Target="https://github.com/Eclipse-SDV-Hackathon-Chapter-Four/Thinking_CAPs/blob/38fbb58b4420365a8c02de1552ed983d51e9a499/AutoSD/artifacts/vehicle-computer/results.json" TargetMode="Externa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hyperlink" Target="https://github.com/eclipse-score/communication/pull/1335" TargetMode="External"/><Relationship Id="rId4" Type="http://schemas.openxmlformats.org/officeDocument/2006/relationships/hyperlink" Target="https://github.com/eclipse-score/inc_diagnostics/pull/40" TargetMode="External"/><Relationship Id="rId5" Type="http://schemas.openxmlformats.org/officeDocument/2006/relationships/hyperlink" Target="https://github.com/Eclipse-SDV-Hackathon-Chapter-Four/Thinking_CAPs/blob/38fbb58b4420365a8c02de1552ed983d51e9a499/contributions/openbsw-transport-router/README.md" TargetMode="External"/><Relationship Id="rId6" Type="http://schemas.openxmlformats.org/officeDocument/2006/relationships/notesSlide" Target="../notesSlides/notesSlide11.xml"/><Relationship Id="rId7" Type="http://schemas.openxmlformats.org/officeDocument/2006/relationships/hyperlink" Target="https://github.com/Eclipse-SDV-Hackathon-Chapter-Four/Thinking_CAPs/blob/38fbb58b4420365a8c02de1552ed983d51e9a499/contributions/communication-1167/README.md" TargetMode="External"/><Relationship Id="rId8" Type="http://schemas.openxmlformats.org/officeDocument/2006/relationships/hyperlink" Target="https://github.com/Eclipse-SDV-Hackathon-Chapter-Four/Thinking_CAPs/blob/38fbb58b4420365a8c02de1552ed983d51e9a499/contributions/issues/eclipse-score/lifecycle/704/README.md" TargetMode="External"/><Relationship Id="rId9" Type="http://schemas.openxmlformats.org/officeDocument/2006/relationships/hyperlink" Target="https://github.com/Eclipse-SDV-Hackathon-Chapter-Four/Thinking_CAPs/blob/38fbb58b4420365a8c02de1552ed983d51e9a499/contributions/openbsw-transport-router/validation.md" TargetMode="External"/><Relationship Id="rId10" Type="http://schemas.openxmlformats.org/officeDocument/2006/relationships/hyperlink" Target="https://github.com/Eclipse-SDV-Hackathon-Chapter-Four/Thinking_CAPs/blob/38fbb58b4420365a8c02de1552ed983d51e9a499/evidence/f009-reproduction-physical/results.json" TargetMode="External"/><Relationship Id="rId11" Type="http://schemas.openxmlformats.org/officeDocument/2006/relationships/hyperlink" Target="https://github.com/Eclipse-SDV-Hackathon-Chapter-Four/Thinking_CAPs/blob/38fbb58b4420365a8c02de1552ed983d51e9a499/evidence/f010-live/verification.json" TargetMode="External"/><Relationship Id="rId12" Type="http://schemas.openxmlformats.org/officeDocument/2006/relationships/hyperlink" Target="https://github.com/Eclipse-SDV-Hackathon-Chapter-Four/Thinking_CAPs/blob/38fbb58b4420365a8c02de1552ed983d51e9a499/ThreadX/artifacts/az3166-xverse-carla/results.json" TargetMode="External"/><Relationship Id="rId13" Type="http://schemas.openxmlformats.org/officeDocument/2006/relationships/hyperlink" Target="https://github.com/Eclipse-SDV-Hackathon-Chapter-Four/Thinking_CAPs/blob/38fbb58b4420365a8c02de1552ed983d51e9a499/AutoSD/artifacts/README.md" TargetMode="External"/><Relationship Id="rId14" Type="http://schemas.openxmlformats.org/officeDocument/2006/relationships/hyperlink" Target="https://github.com/Eclipse-SDV-Hackathon-Chapter-Four/Thinking_CAPs/blob/38fbb58b4420365a8c02de1552ed983d51e9a499/OpenSOVD/contributions/fault-storage-write-through/README.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hyperlink" Target="https://github.com/eclipse-score/communication/pull/1335" TargetMode="External"/><Relationship Id="rId4" Type="http://schemas.openxmlformats.org/officeDocument/2006/relationships/hyperlink" Target="https://github.com/eclipse-score/inc_diagnostics/pull/40" TargetMode="External"/><Relationship Id="rId5" Type="http://schemas.openxmlformats.org/officeDocument/2006/relationships/hyperlink" Target="https://github.com/Eclipse-SDV-Hackathon-Chapter-Four/Thinking_CAPs/blob/38fbb58b4420365a8c02de1552ed983d51e9a499/contributions/openbsw-transport-router/README.md" TargetMode="External"/><Relationship Id="rId6" Type="http://schemas.openxmlformats.org/officeDocument/2006/relationships/hyperlink" Target="https://docs.google.com/presentation/d/1LxFKeG0z-uxOMgOhZX4OWIPQG5Vmeo1Tptall_lJ0_Y/edit" TargetMode="External"/><Relationship Id="rId7" Type="http://schemas.openxmlformats.org/officeDocument/2006/relationships/hyperlink" Target="https://github.com/Eclipse-SDV-Hackathon-Chapter-Four/.github/blob/main/profile/SDV%20Hackathon%202026_Pitching%20Session.pdf" TargetMode="External"/><Relationship Id="rId8" Type="http://schemas.openxmlformats.org/officeDocument/2006/relationships/hyperlink" Target="https://github.com/Eclipse-SDV-Hackathon-Chapter-Four/.github/blob/main/profile/Eclipse_SDV_Hackathon_2026_EvaluationForms.pdf" TargetMode="Externa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1B4C"/>
            </a:gs>
            <a:gs pos="100000">
              <a:srgbClr val="AB0761"/>
            </a:gs>
          </a:gsLst>
          <a:lin ang="2700006" scaled="0"/>
        </a:gradFill>
      </p:bgPr>
    </p:bg>
    <p:spTree>
      <p:nvGrpSpPr>
        <p:cNvPr id="57" name="Shape 57"/>
        <p:cNvGrpSpPr/>
        <p:nvPr/>
      </p:nvGrpSpPr>
      <p:grpSpPr>
        <a:xfrm>
          <a:off x="0" y="0"/>
          <a:ext cx="0" cy="0"/>
          <a:chOff x="0" y="0"/>
          <a:chExt cx="0" cy="0"/>
        </a:xfrm>
      </p:grpSpPr>
      <p:grpSp>
        <p:nvGrpSpPr>
          <p:cNvPr id="58" name="Google Shape;58;p14"/>
          <p:cNvGrpSpPr/>
          <p:nvPr/>
        </p:nvGrpSpPr>
        <p:grpSpPr>
          <a:xfrm>
            <a:off x="597450" y="4235100"/>
            <a:ext cx="2423155" cy="456311"/>
            <a:chOff x="0" y="-9525"/>
            <a:chExt cx="1344032" cy="415925"/>
          </a:xfrm>
        </p:grpSpPr>
        <p:sp>
          <p:nvSpPr>
            <p:cNvPr id="59" name="Google Shape;59;p14"/>
            <p:cNvSpPr/>
            <p:nvPr/>
          </p:nvSpPr>
          <p:spPr>
            <a:xfrm>
              <a:off x="0" y="0"/>
              <a:ext cx="1344032" cy="406400"/>
            </a:xfrm>
            <a:custGeom>
              <a:rect b="b" l="l" r="r" t="t"/>
              <a:pathLst>
                <a:path extrusionOk="0" h="406400" w="1344032">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cap="sq" cmpd="sng" w="13850">
              <a:solidFill>
                <a:srgbClr val="000000"/>
              </a:solidFill>
              <a:prstDash val="solid"/>
              <a:miter lim="8000"/>
              <a:headEnd len="sm" w="sm" type="none"/>
              <a:tailEnd len="sm" w="sm" type="none"/>
            </a:ln>
          </p:spPr>
          <p:txBody>
            <a:bodyPr anchorCtr="0" anchor="ctr" bIns="66450" lIns="66450" spcFirstLastPara="1" rIns="66450" wrap="square" tIns="66450">
              <a:noAutofit/>
            </a:bodyPr>
            <a:lstStyle/>
            <a:p>
              <a:pPr indent="0" lvl="0" marL="0" rtl="0" algn="l">
                <a:spcBef>
                  <a:spcPts val="0"/>
                </a:spcBef>
                <a:spcAft>
                  <a:spcPts val="0"/>
                </a:spcAft>
                <a:buNone/>
              </a:pPr>
              <a:r>
                <a:t/>
              </a:r>
              <a:endParaRPr/>
            </a:p>
          </p:txBody>
        </p:sp>
        <p:sp>
          <p:nvSpPr>
            <p:cNvPr id="60" name="Google Shape;60;p14"/>
            <p:cNvSpPr txBox="1"/>
            <p:nvPr/>
          </p:nvSpPr>
          <p:spPr>
            <a:xfrm>
              <a:off x="0" y="-9525"/>
              <a:ext cx="1344000" cy="415800"/>
            </a:xfrm>
            <a:prstGeom prst="rect">
              <a:avLst/>
            </a:prstGeom>
            <a:noFill/>
            <a:ln>
              <a:noFill/>
            </a:ln>
          </p:spPr>
          <p:txBody>
            <a:bodyPr anchorCtr="0" anchor="ctr" bIns="36900" lIns="36900" spcFirstLastPara="1" rIns="36900" wrap="square" tIns="36900">
              <a:noAutofit/>
            </a:bodyPr>
            <a:lstStyle/>
            <a:p>
              <a:pPr indent="0" lvl="0" marL="0" marR="0" rtl="0" algn="ctr">
                <a:lnSpc>
                  <a:spcPct val="120000"/>
                </a:lnSpc>
                <a:spcBef>
                  <a:spcPts val="0"/>
                </a:spcBef>
                <a:spcAft>
                  <a:spcPts val="0"/>
                </a:spcAft>
                <a:buNone/>
              </a:pPr>
              <a:r>
                <a:t/>
              </a:r>
              <a:endParaRPr b="0" i="0" sz="1308" u="none" cap="none" strike="noStrike">
                <a:solidFill>
                  <a:schemeClr val="dk1"/>
                </a:solidFill>
                <a:latin typeface="Calibri"/>
                <a:ea typeface="Calibri"/>
                <a:cs typeface="Calibri"/>
                <a:sym typeface="Calibri"/>
              </a:endParaRPr>
            </a:p>
          </p:txBody>
        </p:sp>
      </p:grpSp>
      <p:sp>
        <p:nvSpPr>
          <p:cNvPr id="61" name="Google Shape;61;p14"/>
          <p:cNvSpPr txBox="1"/>
          <p:nvPr/>
        </p:nvSpPr>
        <p:spPr>
          <a:xfrm>
            <a:off x="531150" y="1979650"/>
            <a:ext cx="5610600" cy="456300"/>
          </a:xfrm>
          <a:prstGeom prst="rect">
            <a:avLst/>
          </a:prstGeom>
          <a:noFill/>
          <a:ln>
            <a:noFill/>
          </a:ln>
        </p:spPr>
        <p:txBody>
          <a:bodyPr anchorCtr="0" anchor="t" bIns="18288" lIns="18288" spcFirstLastPara="1" rIns="18288" wrap="square" tIns="18288">
            <a:spAutoFit/>
          </a:bodyPr>
          <a:lstStyle/>
          <a:p>
            <a:pPr indent="0" lvl="0" marL="0" marR="0" rtl="0" algn="l">
              <a:lnSpc>
                <a:spcPct val="97999"/>
              </a:lnSpc>
              <a:spcBef>
                <a:spcPts val="0"/>
              </a:spcBef>
              <a:spcAft>
                <a:spcPts val="500"/>
              </a:spcAft>
              <a:buNone/>
            </a:pPr>
            <a:r>
              <a:rPr sz="2800" b="0" i="0">
                <a:solidFill>
                  <a:srgbClr val="FFFFFF"/>
                </a:solidFill>
                <a:latin typeface="Arial"/>
              </a:rPr>
              <a:t>Thinking CAPs</a:t>
            </a:r>
            <a:endParaRPr b="1" sz="2800">
              <a:solidFill>
                <a:srgbClr val="DB521D"/>
              </a:solidFill>
            </a:endParaRPr>
          </a:p>
        </p:txBody>
      </p:sp>
      <p:grpSp>
        <p:nvGrpSpPr>
          <p:cNvPr id="62" name="Google Shape;62;p14"/>
          <p:cNvGrpSpPr/>
          <p:nvPr/>
        </p:nvGrpSpPr>
        <p:grpSpPr>
          <a:xfrm>
            <a:off x="560650" y="2571750"/>
            <a:ext cx="4855381" cy="958407"/>
            <a:chOff x="0" y="-9525"/>
            <a:chExt cx="935400" cy="374100"/>
          </a:xfrm>
        </p:grpSpPr>
        <p:sp>
          <p:nvSpPr>
            <p:cNvPr id="63" name="Google Shape;63;p14"/>
            <p:cNvSpPr/>
            <p:nvPr/>
          </p:nvSpPr>
          <p:spPr>
            <a:xfrm>
              <a:off x="0" y="0"/>
              <a:ext cx="935371" cy="364517"/>
            </a:xfrm>
            <a:custGeom>
              <a:rect b="b" l="l" r="r" t="t"/>
              <a:pathLst>
                <a:path extrusionOk="0" h="364517" w="935371">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cap="sq" cmpd="sng" w="9525">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 name="Google Shape;64;p14"/>
            <p:cNvSpPr txBox="1"/>
            <p:nvPr/>
          </p:nvSpPr>
          <p:spPr>
            <a:xfrm>
              <a:off x="0" y="-9525"/>
              <a:ext cx="935400" cy="374100"/>
            </a:xfrm>
            <a:prstGeom prst="rect">
              <a:avLst/>
            </a:prstGeom>
            <a:noFill/>
            <a:ln>
              <a:noFill/>
            </a:ln>
          </p:spPr>
          <p:txBody>
            <a:bodyPr anchorCtr="0" anchor="ctr" bIns="25400" lIns="25400" spcFirstLastPara="1" rIns="25400" wrap="square" tIns="25400">
              <a:noAutofit/>
            </a:bodyPr>
            <a:lstStyle/>
            <a:p>
              <a:pPr indent="0" lvl="0" marL="0" marR="0" rtl="0" algn="ctr">
                <a:lnSpc>
                  <a:spcPct val="12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65" name="Google Shape;65;p14"/>
          <p:cNvSpPr txBox="1"/>
          <p:nvPr/>
        </p:nvSpPr>
        <p:spPr>
          <a:xfrm>
            <a:off x="928825" y="4362650"/>
            <a:ext cx="1760400" cy="1692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 sz="1100">
                <a:solidFill>
                  <a:srgbClr val="FFFFFF"/>
                </a:solidFill>
                <a:latin typeface="Sora"/>
                <a:ea typeface="Sora"/>
                <a:cs typeface="Sora"/>
                <a:sym typeface="Sora"/>
              </a:rPr>
              <a:t>October 6-8 </a:t>
            </a:r>
            <a:r>
              <a:rPr b="1" i="0" lang="en" sz="1100" u="none" cap="none" strike="noStrike">
                <a:solidFill>
                  <a:srgbClr val="FFFFFF"/>
                </a:solidFill>
                <a:latin typeface="Sora"/>
                <a:ea typeface="Sora"/>
                <a:cs typeface="Sora"/>
                <a:sym typeface="Sora"/>
              </a:rPr>
              <a:t> 2026</a:t>
            </a:r>
            <a:endParaRPr b="1" sz="700">
              <a:latin typeface="Sora"/>
              <a:ea typeface="Sora"/>
              <a:cs typeface="Sora"/>
              <a:sym typeface="Sora"/>
            </a:endParaRPr>
          </a:p>
        </p:txBody>
      </p:sp>
      <p:cxnSp>
        <p:nvCxnSpPr>
          <p:cNvPr id="66" name="Google Shape;66;p14"/>
          <p:cNvCxnSpPr/>
          <p:nvPr/>
        </p:nvCxnSpPr>
        <p:spPr>
          <a:xfrm>
            <a:off x="656394" y="3946404"/>
            <a:ext cx="2148300" cy="0"/>
          </a:xfrm>
          <a:prstGeom prst="straightConnector1">
            <a:avLst/>
          </a:prstGeom>
          <a:noFill/>
          <a:ln cap="flat" cmpd="sng" w="19050">
            <a:solidFill>
              <a:srgbClr val="000000"/>
            </a:solidFill>
            <a:prstDash val="solid"/>
            <a:round/>
            <a:headEnd len="sm" w="sm" type="none"/>
            <a:tailEnd len="sm" w="sm" type="none"/>
          </a:ln>
        </p:spPr>
      </p:cxnSp>
      <p:sp>
        <p:nvSpPr>
          <p:cNvPr id="67" name="Google Shape;67;p14"/>
          <p:cNvSpPr/>
          <p:nvPr/>
        </p:nvSpPr>
        <p:spPr>
          <a:xfrm>
            <a:off x="2395624" y="512011"/>
            <a:ext cx="1376366" cy="702594"/>
          </a:xfrm>
          <a:custGeom>
            <a:rect b="b" l="l" r="r" t="t"/>
            <a:pathLst>
              <a:path extrusionOk="0" h="2284857" w="4475988">
                <a:moveTo>
                  <a:pt x="0" y="0"/>
                </a:moveTo>
                <a:lnTo>
                  <a:pt x="4475988" y="0"/>
                </a:lnTo>
                <a:lnTo>
                  <a:pt x="4475988" y="2284857"/>
                </a:lnTo>
                <a:lnTo>
                  <a:pt x="0" y="2284857"/>
                </a:lnTo>
                <a:lnTo>
                  <a:pt x="0" y="0"/>
                </a:lnTo>
                <a:close/>
              </a:path>
            </a:pathLst>
          </a:custGeom>
          <a:blipFill rotWithShape="1">
            <a:blip r:embed="rId3">
              <a:alphaModFix/>
            </a:blip>
            <a:stretch>
              <a:fillRect b="-3200" l="-6430" r="-6420" t="0"/>
            </a:stretch>
          </a:blipFill>
          <a:ln>
            <a:noFill/>
          </a:ln>
        </p:spPr>
      </p:sp>
      <p:sp>
        <p:nvSpPr>
          <p:cNvPr id="68" name="Google Shape;68;p14"/>
          <p:cNvSpPr/>
          <p:nvPr/>
        </p:nvSpPr>
        <p:spPr>
          <a:xfrm>
            <a:off x="168246" y="329995"/>
            <a:ext cx="2423160" cy="1066609"/>
          </a:xfrm>
          <a:custGeom>
            <a:rect b="b" l="l" r="r" t="t"/>
            <a:pathLst>
              <a:path extrusionOk="0" h="2844292" w="6461760">
                <a:moveTo>
                  <a:pt x="0" y="0"/>
                </a:moveTo>
                <a:lnTo>
                  <a:pt x="6461760" y="0"/>
                </a:lnTo>
                <a:lnTo>
                  <a:pt x="6461760" y="2844292"/>
                </a:lnTo>
                <a:lnTo>
                  <a:pt x="0" y="2844292"/>
                </a:lnTo>
                <a:lnTo>
                  <a:pt x="0" y="0"/>
                </a:lnTo>
                <a:close/>
              </a:path>
            </a:pathLst>
          </a:custGeom>
          <a:blipFill rotWithShape="1">
            <a:blip r:embed="rId4">
              <a:alphaModFix/>
            </a:blip>
            <a:stretch>
              <a:fillRect b="0" l="0" r="-60" t="0"/>
            </a:stretch>
          </a:blipFill>
          <a:ln>
            <a:noFill/>
          </a:ln>
        </p:spPr>
      </p:sp>
      <p:pic>
        <p:nvPicPr>
          <p:cNvPr id="69" name="Google Shape;69;p14"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70" name="Google Shape;70;p14"/>
          <p:cNvSpPr txBox="1"/>
          <p:nvPr/>
        </p:nvSpPr>
        <p:spPr>
          <a:xfrm>
            <a:off x="850225" y="2693325"/>
            <a:ext cx="4122600" cy="702600"/>
          </a:xfrm>
          <a:prstGeom prst="rect">
            <a:avLst/>
          </a:prstGeom>
          <a:noFill/>
          <a:ln>
            <a:noFill/>
          </a:ln>
        </p:spPr>
        <p:txBody>
          <a:bodyPr anchorCtr="0" anchor="t" bIns="18288" lIns="18288" spcFirstLastPara="1" rIns="18288" wrap="square" tIns="18288">
            <a:noAutofit/>
          </a:bodyPr>
          <a:lstStyle/>
          <a:p>
            <a:pPr indent="0" lvl="0" marL="0" rtl="0" algn="ctr">
              <a:spcBef>
                <a:spcPts val="0"/>
              </a:spcBef>
              <a:spcAft>
                <a:spcPts val="500"/>
              </a:spcAft>
              <a:buNone/>
            </a:pPr>
            <a:r>
              <a:rPr sz="1800" b="1" i="0">
                <a:solidFill>
                  <a:srgbClr val="FFFFFF"/>
                </a:solidFill>
                <a:latin typeface="Inter"/>
              </a:rPr>
              <a:t>Drive. Diagnose.</a:t>
            </a:r>
            <a:endParaRPr b="1" sz="1800">
              <a:solidFill>
                <a:schemeClr val="lt1"/>
              </a:solidFill>
              <a:latin typeface="Inter"/>
              <a:ea typeface="Inter"/>
              <a:cs typeface="Inter"/>
              <a:sym typeface="Inter"/>
            </a:endParaRPr>
          </a:p>
          <a:p>
            <a:pPr>
              <a:spcAft>
                <a:spcPts val="500"/>
              </a:spcAft>
              <a:buNone/>
            </a:pPr>
            <a:r>
              <a:rPr sz="1800" b="1" i="0">
                <a:solidFill>
                  <a:srgbClr val="FFFFFF"/>
                </a:solidFill>
                <a:latin typeface="Inter"/>
              </a:rPr>
              <a:t>Verify. Contribute.</a:t>
            </a:r>
          </a:p>
        </p:txBody>
      </p:sp>
      <p:sp>
        <p:nvSpPr>
          <p:cNvPr id="71" name="Google Shape;71;p14"/>
          <p:cNvSpPr txBox="1"/>
          <p:nvPr/>
        </p:nvSpPr>
        <p:spPr>
          <a:xfrm>
            <a:off x="3227575" y="4779825"/>
            <a:ext cx="30000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
        <p:nvSpPr>
          <p:cNvPr id="72" name="TextBox 71"/>
          <p:cNvSpPr txBox="1"/>
          <p:nvPr/>
        </p:nvSpPr>
        <p:spPr>
          <a:xfrm>
            <a:off x="731520" y="3639312"/>
            <a:ext cx="4572000" cy="228600"/>
          </a:xfrm>
          <a:prstGeom prst="rect">
            <a:avLst/>
          </a:prstGeom>
          <a:noFill/>
        </p:spPr>
        <p:txBody>
          <a:bodyPr wrap="square" lIns="18288" rIns="18288" tIns="18288" bIns="18288">
            <a:spAutoFit/>
          </a:bodyPr>
          <a:lstStyle/>
          <a:p>
            <a:pPr>
              <a:spcAft>
                <a:spcPts val="500"/>
              </a:spcAft>
              <a:buNone/>
            </a:pPr>
            <a:r>
              <a:rPr sz="1000" b="0" i="0">
                <a:solidFill>
                  <a:srgbClr val="FFFFFF"/>
                </a:solidFill>
                <a:latin typeface="Roboto"/>
              </a:rPr>
              <a:t>Freestyle / HackFest  |  Eclipse SDV Hackathon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8" name="Google Shape;78;p15"/>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We advance project issues with working code, tests and reusable integration.</a:t>
            </a:r>
            <a:endParaRPr i="1" sz="1800">
              <a:solidFill>
                <a:schemeClr val="dk1"/>
              </a:solidFill>
              <a:latin typeface="Roboto"/>
              <a:ea typeface="Roboto"/>
              <a:cs typeface="Roboto"/>
              <a:sym typeface="Roboto"/>
            </a:endParaRPr>
          </a:p>
        </p:txBody>
      </p:sp>
      <p:sp>
        <p:nvSpPr>
          <p:cNvPr id="79" name="Google Shape;79;p15"/>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Existing needs. Reviewable contributions.</a:t>
            </a:r>
            <a:endParaRPr sz="400">
              <a:latin typeface="Inter ExtraBold"/>
              <a:ea typeface="Inter ExtraBold"/>
              <a:cs typeface="Inter ExtraBold"/>
              <a:sym typeface="Inter ExtraBold"/>
            </a:endParaRPr>
          </a:p>
        </p:txBody>
      </p:sp>
      <p:sp>
        <p:nvSpPr>
          <p:cNvPr id="80" name="TextBox 79"/>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CONTRIBUTION VALUE  |  25%</a:t>
            </a:r>
          </a:p>
        </p:txBody>
      </p:sp>
      <p:sp>
        <p:nvSpPr>
          <p:cNvPr id="81" name="TextBox 80"/>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82" name="TextBox 81"/>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COM PR #1335</a:t>
            </a:r>
          </a:p>
        </p:txBody>
      </p:sp>
      <p:sp>
        <p:nvSpPr>
          <p:cNvPr id="83" name="TextBox 82"/>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Diagnostics PR #40</a:t>
            </a:r>
          </a:p>
        </p:txBody>
      </p:sp>
      <p:sp>
        <p:nvSpPr>
          <p:cNvPr id="84" name="TextBox 83"/>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OpenBSW contribution</a:t>
            </a:r>
          </a:p>
        </p:txBody>
      </p:sp>
      <p:sp>
        <p:nvSpPr>
          <p:cNvPr id="85" name="Rectangle 84"/>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SUBMITTED</a:t>
            </a:r>
          </a:p>
        </p:txBody>
      </p:sp>
      <p:sp>
        <p:nvSpPr>
          <p:cNvPr id="87" name="TextBox 86"/>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COM reliability</a:t>
            </a:r>
          </a:p>
        </p:txBody>
      </p:sp>
      <p:sp>
        <p:nvSpPr>
          <p:cNvPr id="88" name="TextBox 87"/>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Repeated offer, stop, discovery and subscription integration tests.</a:t>
            </a:r>
          </a:p>
        </p:txBody>
      </p:sp>
      <p:sp>
        <p:nvSpPr>
          <p:cNvPr id="89" name="Rectangle 88"/>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SUBMITTED</a:t>
            </a:r>
          </a:p>
        </p:txBody>
      </p:sp>
      <p:sp>
        <p:nvSpPr>
          <p:cNvPr id="91" name="TextBox 90"/>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S-CORE to SOVD</a:t>
            </a:r>
          </a:p>
        </p:txBody>
      </p:sp>
      <p:sp>
        <p:nvSpPr>
          <p:cNvPr id="92" name="TextBox 91"/>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Expose diagnostic data resources through an OpenSOVD provider.</a:t>
            </a:r>
          </a:p>
        </p:txBody>
      </p:sp>
      <p:sp>
        <p:nvSpPr>
          <p:cNvPr id="93" name="Rectangle 92"/>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LOCAL / VERIFIED</a:t>
            </a:r>
          </a:p>
        </p:txBody>
      </p:sp>
      <p:sp>
        <p:nvSpPr>
          <p:cNvPr id="95" name="TextBox 94"/>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Diagnostic routing</a:t>
            </a:r>
          </a:p>
        </p:txBody>
      </p:sp>
      <p:sp>
        <p:nvSpPr>
          <p:cNvPr id="96" name="TextBox 95"/>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Route UDS by logical address from DoIP to CAN targets.</a:t>
            </a:r>
          </a:p>
        </p:txBody>
      </p:sp>
      <p:sp>
        <p:nvSpPr>
          <p:cNvPr id="97" name="TextBox 96"/>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Supporting work: lifecycle #704, SOME/IP #84 and native fault-storage persistence.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85" name="Google Shape;85;p16"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86" name="Google Shape;86;p16"/>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Native tests, source identities and review packets accompany the selected changes.</a:t>
            </a:r>
            <a:endParaRPr i="1" sz="1800">
              <a:solidFill>
                <a:schemeClr val="dk1"/>
              </a:solidFill>
              <a:latin typeface="Roboto"/>
              <a:ea typeface="Roboto"/>
              <a:cs typeface="Roboto"/>
              <a:sym typeface="Roboto"/>
            </a:endParaRPr>
          </a:p>
        </p:txBody>
      </p:sp>
      <p:sp>
        <p:nvSpPr>
          <p:cNvPr id="87" name="Google Shape;87;p16"/>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Measured quality, with explicit boundaries.</a:t>
            </a:r>
            <a:endParaRPr sz="400">
              <a:latin typeface="Inter ExtraBold"/>
              <a:ea typeface="Inter ExtraBold"/>
              <a:cs typeface="Inter ExtraBold"/>
              <a:sym typeface="Inter ExtraBold"/>
            </a:endParaRPr>
          </a:p>
        </p:txBody>
      </p:sp>
      <p:sp>
        <p:nvSpPr>
          <p:cNvPr id="88" name="TextBox 87"/>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TECHNICAL QUALITY &amp; MATURITY  |  25%</a:t>
            </a:r>
          </a:p>
        </p:txBody>
      </p:sp>
      <p:sp>
        <p:nvSpPr>
          <p:cNvPr id="89" name="TextBox 88"/>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90" name="TextBox 89"/>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COM validation</a:t>
            </a:r>
          </a:p>
        </p:txBody>
      </p:sp>
      <p:sp>
        <p:nvSpPr>
          <p:cNvPr id="91" name="TextBox 90"/>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Lifecycle #704</a:t>
            </a:r>
          </a:p>
        </p:txBody>
      </p:sp>
      <p:sp>
        <p:nvSpPr>
          <p:cNvPr id="92" name="TextBox 91"/>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OpenBSW native gates</a:t>
            </a:r>
          </a:p>
        </p:txBody>
      </p:sp>
      <p:sp>
        <p:nvSpPr>
          <p:cNvPr id="93" name="Rectangle 92"/>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COMMUNICATION #1167</a:t>
            </a:r>
          </a:p>
        </p:txBody>
      </p:sp>
      <p:sp>
        <p:nvSpPr>
          <p:cNvPr id="95" name="TextBox 94"/>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503 passed</a:t>
            </a:r>
          </a:p>
        </p:txBody>
      </p:sp>
      <p:sp>
        <p:nvSpPr>
          <p:cNvPr id="96" name="TextBox 95"/>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6 skipped; inherited copyright findings retained.</a:t>
            </a:r>
          </a:p>
        </p:txBody>
      </p:sp>
      <p:sp>
        <p:nvSpPr>
          <p:cNvPr id="97" name="Rectangle 96"/>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LIFECYCLE #704</a:t>
            </a:r>
          </a:p>
        </p:txBody>
      </p:sp>
      <p:sp>
        <p:nvSpPr>
          <p:cNvPr id="99" name="TextBox 98"/>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113 passed</a:t>
            </a:r>
          </a:p>
        </p:txBody>
      </p:sp>
      <p:sp>
        <p:nvSpPr>
          <p:cNvPr id="100" name="TextBox 99"/>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Native cases for shared configuration generation.</a:t>
            </a:r>
          </a:p>
        </p:txBody>
      </p:sp>
      <p:sp>
        <p:nvSpPr>
          <p:cNvPr id="101" name="Rectangle 100"/>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OPENBSW ROUTER</a:t>
            </a:r>
          </a:p>
        </p:txBody>
      </p:sp>
      <p:sp>
        <p:nvSpPr>
          <p:cNvPr id="103" name="TextBox 102"/>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46 unit tests</a:t>
            </a:r>
          </a:p>
        </p:txBody>
      </p:sp>
      <p:sp>
        <p:nvSpPr>
          <p:cNvPr id="104" name="TextBox 103"/>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2 Bazel tests and 28 host integration tests passed.</a:t>
            </a:r>
          </a:p>
        </p:txBody>
      </p:sp>
      <p:sp>
        <p:nvSpPr>
          <p:cNvPr id="105" name="TextBox 104"/>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Remaining gates: author/ECA where applicable, native CI, maintainer review and platform coverage.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93" name="Google Shape;93;p17"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94" name="Google Shape;94;p17"/>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Reusable integration paths link vehicle state, receiver diagnosis and embedded actuation.</a:t>
            </a:r>
            <a:endParaRPr i="1" sz="1800">
              <a:solidFill>
                <a:schemeClr val="dk1"/>
              </a:solidFill>
              <a:latin typeface="Roboto"/>
              <a:ea typeface="Roboto"/>
              <a:cs typeface="Roboto"/>
              <a:sym typeface="Roboto"/>
            </a:endParaRPr>
          </a:p>
        </p:txBody>
      </p:sp>
      <p:sp>
        <p:nvSpPr>
          <p:cNvPr id="95" name="Google Shape;95;p17"/>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Connect projects through observable behavior.</a:t>
            </a:r>
            <a:endParaRPr sz="400">
              <a:latin typeface="Inter ExtraBold"/>
              <a:ea typeface="Inter ExtraBold"/>
              <a:cs typeface="Inter ExtraBold"/>
              <a:sym typeface="Inter ExtraBold"/>
            </a:endParaRPr>
          </a:p>
        </p:txBody>
      </p:sp>
      <p:sp>
        <p:nvSpPr>
          <p:cNvPr id="96" name="TextBox 95"/>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ECLIPSE SDV ECOSYSTEM IMPACT  |  20%</a:t>
            </a:r>
          </a:p>
        </p:txBody>
      </p:sp>
      <p:sp>
        <p:nvSpPr>
          <p:cNvPr id="97" name="TextBox 96"/>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98" name="TextBox 97"/>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Receiver campaign</a:t>
            </a:r>
          </a:p>
        </p:txBody>
      </p:sp>
      <p:sp>
        <p:nvSpPr>
          <p:cNvPr id="99" name="TextBox 98"/>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Physical ThreadX</a:t>
            </a:r>
          </a:p>
        </p:txBody>
      </p:sp>
      <p:sp>
        <p:nvSpPr>
          <p:cNvPr id="100" name="TextBox 99"/>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AutoSD guest evidence</a:t>
            </a:r>
          </a:p>
        </p:txBody>
      </p:sp>
      <p:sp>
        <p:nvSpPr>
          <p:cNvPr id="101" name="TextBox 100"/>
          <p:cNvSpPr txBox="1"/>
          <p:nvPr/>
        </p:nvSpPr>
        <p:spPr>
          <a:xfrm>
            <a:off x="731520" y="1938528"/>
            <a:ext cx="7680960" cy="228600"/>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RECEIVER / DIAGNOSIS</a:t>
            </a:r>
          </a:p>
        </p:txBody>
      </p:sp>
      <p:sp>
        <p:nvSpPr>
          <p:cNvPr id="102" name="Rectangle 101"/>
          <p:cNvSpPr/>
          <p:nvPr/>
        </p:nvSpPr>
        <p:spPr>
          <a:xfrm>
            <a:off x="731520" y="2267712"/>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4672" y="2368296"/>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CARLA + X-Verse</a:t>
            </a:r>
          </a:p>
        </p:txBody>
      </p:sp>
      <p:sp>
        <p:nvSpPr>
          <p:cNvPr id="104" name="TextBox 103"/>
          <p:cNvSpPr txBox="1"/>
          <p:nvPr/>
        </p:nvSpPr>
        <p:spPr>
          <a:xfrm>
            <a:off x="3108960" y="2359152"/>
            <a:ext cx="228600" cy="320040"/>
          </a:xfrm>
          <a:prstGeom prst="rect">
            <a:avLst/>
          </a:prstGeom>
          <a:noFill/>
        </p:spPr>
        <p:txBody>
          <a:bodyPr wrap="square" lIns="18288" rIns="18288" tIns="18288" bIns="18288">
            <a:spAutoFit/>
          </a:bodyPr>
          <a:lstStyle/>
          <a:p>
            <a:pPr>
              <a:spcAft>
                <a:spcPts val="500"/>
              </a:spcAft>
              <a:buNone/>
            </a:pPr>
            <a:r>
              <a:rPr sz="1800" b="0" i="0">
                <a:solidFill>
                  <a:srgbClr val="0097A7"/>
                </a:solidFill>
                <a:latin typeface="Roboto"/>
              </a:rPr>
              <a:t>→</a:t>
            </a:r>
          </a:p>
        </p:txBody>
      </p:sp>
      <p:sp>
        <p:nvSpPr>
          <p:cNvPr id="105" name="Rectangle 104"/>
          <p:cNvSpPr/>
          <p:nvPr/>
        </p:nvSpPr>
        <p:spPr>
          <a:xfrm>
            <a:off x="3337560" y="2267712"/>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410712" y="2368296"/>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S-CORE receiver</a:t>
            </a:r>
          </a:p>
        </p:txBody>
      </p:sp>
      <p:sp>
        <p:nvSpPr>
          <p:cNvPr id="107" name="TextBox 106"/>
          <p:cNvSpPr txBox="1"/>
          <p:nvPr/>
        </p:nvSpPr>
        <p:spPr>
          <a:xfrm>
            <a:off x="5715000" y="2359152"/>
            <a:ext cx="228600" cy="320040"/>
          </a:xfrm>
          <a:prstGeom prst="rect">
            <a:avLst/>
          </a:prstGeom>
          <a:noFill/>
        </p:spPr>
        <p:txBody>
          <a:bodyPr wrap="square" lIns="18288" rIns="18288" tIns="18288" bIns="18288">
            <a:spAutoFit/>
          </a:bodyPr>
          <a:lstStyle/>
          <a:p>
            <a:pPr>
              <a:spcAft>
                <a:spcPts val="500"/>
              </a:spcAft>
              <a:buNone/>
            </a:pPr>
            <a:r>
              <a:rPr sz="1800" b="0" i="0">
                <a:solidFill>
                  <a:srgbClr val="0097A7"/>
                </a:solidFill>
                <a:latin typeface="Roboto"/>
              </a:rPr>
              <a:t>→</a:t>
            </a:r>
          </a:p>
        </p:txBody>
      </p:sp>
      <p:sp>
        <p:nvSpPr>
          <p:cNvPr id="108" name="Rectangle 107"/>
          <p:cNvSpPr/>
          <p:nvPr/>
        </p:nvSpPr>
        <p:spPr>
          <a:xfrm>
            <a:off x="5943600" y="2267712"/>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016752" y="2368296"/>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OpenSOVD</a:t>
            </a:r>
          </a:p>
        </p:txBody>
      </p:sp>
      <p:sp>
        <p:nvSpPr>
          <p:cNvPr id="110" name="TextBox 109"/>
          <p:cNvSpPr txBox="1"/>
          <p:nvPr/>
        </p:nvSpPr>
        <p:spPr>
          <a:xfrm>
            <a:off x="731520" y="3108960"/>
            <a:ext cx="7680960" cy="228600"/>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ZONAL LIGHTING</a:t>
            </a:r>
          </a:p>
        </p:txBody>
      </p:sp>
      <p:sp>
        <p:nvSpPr>
          <p:cNvPr id="111" name="Rectangle 110"/>
          <p:cNvSpPr/>
          <p:nvPr/>
        </p:nvSpPr>
        <p:spPr>
          <a:xfrm>
            <a:off x="731520" y="3438144"/>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672" y="3538728"/>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X-Verse status</a:t>
            </a:r>
          </a:p>
        </p:txBody>
      </p:sp>
      <p:sp>
        <p:nvSpPr>
          <p:cNvPr id="113" name="TextBox 112"/>
          <p:cNvSpPr txBox="1"/>
          <p:nvPr/>
        </p:nvSpPr>
        <p:spPr>
          <a:xfrm>
            <a:off x="3108960" y="3529584"/>
            <a:ext cx="228600" cy="320040"/>
          </a:xfrm>
          <a:prstGeom prst="rect">
            <a:avLst/>
          </a:prstGeom>
          <a:noFill/>
        </p:spPr>
        <p:txBody>
          <a:bodyPr wrap="square" lIns="18288" rIns="18288" tIns="18288" bIns="18288">
            <a:spAutoFit/>
          </a:bodyPr>
          <a:lstStyle/>
          <a:p>
            <a:pPr>
              <a:spcAft>
                <a:spcPts val="500"/>
              </a:spcAft>
              <a:buNone/>
            </a:pPr>
            <a:r>
              <a:rPr sz="1800" b="0" i="0">
                <a:solidFill>
                  <a:srgbClr val="0097A7"/>
                </a:solidFill>
                <a:latin typeface="Roboto"/>
              </a:rPr>
              <a:t>→</a:t>
            </a:r>
          </a:p>
        </p:txBody>
      </p:sp>
      <p:sp>
        <p:nvSpPr>
          <p:cNvPr id="114" name="Rectangle 113"/>
          <p:cNvSpPr/>
          <p:nvPr/>
        </p:nvSpPr>
        <p:spPr>
          <a:xfrm>
            <a:off x="3337560" y="3438144"/>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410712" y="3538728"/>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ThreadX AZ3166</a:t>
            </a:r>
          </a:p>
        </p:txBody>
      </p:sp>
      <p:sp>
        <p:nvSpPr>
          <p:cNvPr id="116" name="TextBox 115"/>
          <p:cNvSpPr txBox="1"/>
          <p:nvPr/>
        </p:nvSpPr>
        <p:spPr>
          <a:xfrm>
            <a:off x="5715000" y="3529584"/>
            <a:ext cx="228600" cy="320040"/>
          </a:xfrm>
          <a:prstGeom prst="rect">
            <a:avLst/>
          </a:prstGeom>
          <a:noFill/>
        </p:spPr>
        <p:txBody>
          <a:bodyPr wrap="square" lIns="18288" rIns="18288" tIns="18288" bIns="18288">
            <a:spAutoFit/>
          </a:bodyPr>
          <a:lstStyle/>
          <a:p>
            <a:pPr>
              <a:spcAft>
                <a:spcPts val="500"/>
              </a:spcAft>
              <a:buNone/>
            </a:pPr>
            <a:r>
              <a:rPr sz="1800" b="0" i="0">
                <a:solidFill>
                  <a:srgbClr val="0097A7"/>
                </a:solidFill>
                <a:latin typeface="Roboto"/>
              </a:rPr>
              <a:t>→</a:t>
            </a:r>
          </a:p>
        </p:txBody>
      </p:sp>
      <p:sp>
        <p:nvSpPr>
          <p:cNvPr id="117" name="Rectangle 116"/>
          <p:cNvSpPr/>
          <p:nvPr/>
        </p:nvSpPr>
        <p:spPr>
          <a:xfrm>
            <a:off x="5943600" y="3438144"/>
            <a:ext cx="2331720" cy="548640"/>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016752" y="3538728"/>
            <a:ext cx="2194560" cy="329184"/>
          </a:xfrm>
          <a:prstGeom prst="rect">
            <a:avLst/>
          </a:prstGeom>
          <a:noFill/>
        </p:spPr>
        <p:txBody>
          <a:bodyPr wrap="square" lIns="18288" rIns="18288" tIns="18288" bIns="18288">
            <a:spAutoFit/>
          </a:bodyPr>
          <a:lstStyle/>
          <a:p>
            <a:pPr>
              <a:spcAft>
                <a:spcPts val="500"/>
              </a:spcAft>
              <a:buNone/>
            </a:pPr>
            <a:r>
              <a:rPr sz="1600" b="1" i="0">
                <a:solidFill>
                  <a:srgbClr val="701C7F"/>
                </a:solidFill>
                <a:latin typeface="Inter"/>
              </a:rPr>
              <a:t>CARLA lamps</a:t>
            </a:r>
          </a:p>
        </p:txBody>
      </p:sp>
      <p:sp>
        <p:nvSpPr>
          <p:cNvPr id="119" name="TextBox 118"/>
          <p:cNvSpPr txBox="1"/>
          <p:nvPr/>
        </p:nvSpPr>
        <p:spPr>
          <a:xfrm>
            <a:off x="822960" y="2788920"/>
            <a:ext cx="7315200" cy="256032"/>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openDuT-managed SOME/IP path; receiver freshness and fault-history observations.</a:t>
            </a:r>
          </a:p>
        </p:txBody>
      </p:sp>
      <p:sp>
        <p:nvSpPr>
          <p:cNvPr id="120" name="TextBox 119"/>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AutoSD: separately verified lighting deployment, native diagnosis and disturbance/recovery.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2" name="Google Shape;102;p18"/>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Pinned inputs and portable records make the work understandable and repeatable.</a:t>
            </a:r>
            <a:endParaRPr i="1" sz="1800">
              <a:solidFill>
                <a:schemeClr val="dk1"/>
              </a:solidFill>
              <a:latin typeface="Roboto"/>
              <a:ea typeface="Roboto"/>
              <a:cs typeface="Roboto"/>
              <a:sym typeface="Roboto"/>
            </a:endParaRPr>
          </a:p>
        </p:txBody>
      </p:sp>
      <p:sp>
        <p:nvSpPr>
          <p:cNvPr id="103" name="Google Shape;103;p18"/>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A contributor can pick up the next step.</a:t>
            </a:r>
            <a:endParaRPr sz="400">
              <a:latin typeface="Inter ExtraBold"/>
              <a:ea typeface="Inter ExtraBold"/>
              <a:cs typeface="Inter ExtraBold"/>
              <a:sym typeface="Inter ExtraBold"/>
            </a:endParaRPr>
          </a:p>
        </p:txBody>
      </p:sp>
      <p:sp>
        <p:nvSpPr>
          <p:cNvPr id="104" name="TextBox 103"/>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REUSABILITY &amp; MAINTAINABILITY  |  10%</a:t>
            </a:r>
          </a:p>
        </p:txBody>
      </p:sp>
      <p:sp>
        <p:nvSpPr>
          <p:cNvPr id="105" name="TextBox 104"/>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106" name="TextBox 105"/>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Reproduction guide</a:t>
            </a:r>
          </a:p>
        </p:txBody>
      </p:sp>
      <p:sp>
        <p:nvSpPr>
          <p:cNvPr id="107" name="TextBox 106"/>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Contribution registry</a:t>
            </a:r>
          </a:p>
        </p:txBody>
      </p:sp>
      <p:sp>
        <p:nvSpPr>
          <p:cNvPr id="108" name="TextBox 107"/>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AutoSD verification</a:t>
            </a:r>
          </a:p>
        </p:txBody>
      </p:sp>
      <p:sp>
        <p:nvSpPr>
          <p:cNvPr id="109" name="Rectangle 108"/>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01 / IDENTIFY</a:t>
            </a:r>
          </a:p>
        </p:txBody>
      </p:sp>
      <p:sp>
        <p:nvSpPr>
          <p:cNvPr id="111" name="TextBox 110"/>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Pinned inputs</a:t>
            </a:r>
          </a:p>
        </p:txBody>
      </p:sp>
      <p:sp>
        <p:nvSpPr>
          <p:cNvPr id="112" name="TextBox 111"/>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Source revisions, dependencies, configuration and executable hashes.</a:t>
            </a:r>
          </a:p>
        </p:txBody>
      </p:sp>
      <p:sp>
        <p:nvSpPr>
          <p:cNvPr id="113" name="Rectangle 112"/>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02 / EXECUTE</a:t>
            </a:r>
          </a:p>
        </p:txBody>
      </p:sp>
      <p:sp>
        <p:nvSpPr>
          <p:cNvPr id="115" name="TextBox 114"/>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Repeatable checks</a:t>
            </a:r>
          </a:p>
        </p:txBody>
      </p:sp>
      <p:sp>
        <p:nvSpPr>
          <p:cNvPr id="116" name="TextBox 115"/>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Native regressions, campaign verdicts and owned teardown.</a:t>
            </a:r>
          </a:p>
        </p:txBody>
      </p:sp>
      <p:sp>
        <p:nvSpPr>
          <p:cNvPr id="117" name="Rectangle 116"/>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03 / CONTINUE</a:t>
            </a:r>
          </a:p>
        </p:txBody>
      </p:sp>
      <p:sp>
        <p:nvSpPr>
          <p:cNvPr id="119" name="TextBox 118"/>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Explicit handover</a:t>
            </a:r>
          </a:p>
        </p:txBody>
      </p:sp>
      <p:sp>
        <p:nvSpPr>
          <p:cNvPr id="120" name="TextBox 119"/>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Patches, PR links, known gaps and maintainer-facing next steps.</a:t>
            </a:r>
          </a:p>
        </p:txBody>
      </p:sp>
      <p:sp>
        <p:nvSpPr>
          <p:cNvPr id="121" name="TextBox 120"/>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Reference-host self-run demonstrated; independent operator and cold-machine reproduction pending.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9" name="Google Shape;109;p19"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0" name="Google Shape;110;p19"/>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Show what the receiver consumed, what failed, and what recovered.</a:t>
            </a:r>
            <a:endParaRPr i="1" sz="1800">
              <a:solidFill>
                <a:schemeClr val="dk1"/>
              </a:solidFill>
              <a:latin typeface="Roboto"/>
              <a:ea typeface="Roboto"/>
              <a:cs typeface="Roboto"/>
              <a:sym typeface="Roboto"/>
            </a:endParaRPr>
          </a:p>
        </p:txBody>
      </p:sp>
      <p:sp>
        <p:nvSpPr>
          <p:cNvPr id="111" name="Google Shape;111;p19"/>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One failure story. Traceable evidence.</a:t>
            </a:r>
            <a:endParaRPr sz="400">
              <a:latin typeface="Inter ExtraBold"/>
              <a:ea typeface="Inter ExtraBold"/>
              <a:cs typeface="Inter ExtraBold"/>
              <a:sym typeface="Inter ExtraBold"/>
            </a:endParaRPr>
          </a:p>
        </p:txBody>
      </p:sp>
      <p:sp>
        <p:nvSpPr>
          <p:cNvPr id="112" name="TextBox 111"/>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PITCH &amp; HANDOVER CLARITY  |  8%</a:t>
            </a:r>
          </a:p>
        </p:txBody>
      </p:sp>
      <p:sp>
        <p:nvSpPr>
          <p:cNvPr id="113" name="TextBox 112"/>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114" name="TextBox 113"/>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Physical verdicts</a:t>
            </a:r>
          </a:p>
        </p:txBody>
      </p:sp>
      <p:sp>
        <p:nvSpPr>
          <p:cNvPr id="115" name="TextBox 114"/>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Dashboard evidence</a:t>
            </a:r>
          </a:p>
        </p:txBody>
      </p:sp>
      <p:sp>
        <p:nvSpPr>
          <p:cNvPr id="116" name="TextBox 115"/>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Saved physical replay</a:t>
            </a:r>
          </a:p>
        </p:txBody>
      </p:sp>
      <p:sp>
        <p:nvSpPr>
          <p:cNvPr id="117" name="TextBox 116"/>
          <p:cNvSpPr txBox="1"/>
          <p:nvPr/>
        </p:nvSpPr>
        <p:spPr>
          <a:xfrm>
            <a:off x="731520" y="1938528"/>
            <a:ext cx="3977639" cy="2057400"/>
          </a:xfrm>
          <a:prstGeom prst="rect">
            <a:avLst/>
          </a:prstGeom>
          <a:noFill/>
        </p:spPr>
        <p:txBody>
          <a:bodyPr wrap="square" lIns="18288" rIns="18288" tIns="18288" bIns="18288">
            <a:spAutoFit/>
          </a:bodyPr>
          <a:lstStyle/>
          <a:p>
            <a:pPr>
              <a:spcAft>
                <a:spcPts val="500"/>
              </a:spcAft>
              <a:buNone/>
            </a:pPr>
            <a:r>
              <a:rPr sz="1800" b="0" i="0">
                <a:solidFill>
                  <a:srgbClr val="222222"/>
                </a:solidFill>
                <a:latin typeface="Roboto"/>
              </a:rPr>
              <a:t>01  Fresh receiver observations</a:t>
            </a:r>
          </a:p>
          <a:p>
            <a:pPr>
              <a:spcAft>
                <a:spcPts val="500"/>
              </a:spcAft>
              <a:buNone/>
            </a:pPr>
            <a:r>
              <a:rPr sz="1800" b="0" i="0">
                <a:solidFill>
                  <a:srgbClr val="222222"/>
                </a:solidFill>
                <a:latin typeface="Roboto"/>
              </a:rPr>
              <a:t>02  Managed communication loss</a:t>
            </a:r>
          </a:p>
          <a:p>
            <a:pPr>
              <a:spcAft>
                <a:spcPts val="500"/>
              </a:spcAft>
              <a:buNone/>
            </a:pPr>
            <a:r>
              <a:rPr sz="1800" b="0" i="0">
                <a:solidFill>
                  <a:srgbClr val="222222"/>
                </a:solidFill>
                <a:latin typeface="Roboto"/>
              </a:rPr>
              <a:t>03  Fault activation and diagnosis</a:t>
            </a:r>
          </a:p>
          <a:p>
            <a:pPr>
              <a:spcAft>
                <a:spcPts val="500"/>
              </a:spcAft>
              <a:buNone/>
            </a:pPr>
            <a:r>
              <a:rPr sz="1800" b="0" i="0">
                <a:solidFill>
                  <a:srgbClr val="222222"/>
                </a:solidFill>
                <a:latin typeface="Roboto"/>
              </a:rPr>
              <a:t>04  Recovery with history retained</a:t>
            </a:r>
          </a:p>
        </p:txBody>
      </p:sp>
      <p:pic>
        <p:nvPicPr>
          <p:cNvPr id="118" name="Picture 117" descr="receiver-diagnosis.png"/>
          <p:cNvPicPr>
            <a:picLocks noChangeAspect="1"/>
          </p:cNvPicPr>
          <p:nvPr/>
        </p:nvPicPr>
        <p:blipFill>
          <a:blip r:embed="rId7"/>
          <a:stretch>
            <a:fillRect/>
          </a:stretch>
        </p:blipFill>
        <p:spPr>
          <a:xfrm>
            <a:off x="5562806" y="1755648"/>
            <a:ext cx="2133186" cy="2359152"/>
          </a:xfrm>
          <a:prstGeom prst="rect">
            <a:avLst/>
          </a:prstGeom>
        </p:spPr>
      </p:pic>
      <p:sp>
        <p:nvSpPr>
          <p:cNvPr id="119" name="TextBox 118"/>
          <p:cNvSpPr txBox="1"/>
          <p:nvPr/>
        </p:nvSpPr>
        <p:spPr>
          <a:xfrm>
            <a:off x="4892040" y="4142232"/>
            <a:ext cx="3520440" cy="201168"/>
          </a:xfrm>
          <a:prstGeom prst="rect">
            <a:avLst/>
          </a:prstGeom>
          <a:noFill/>
        </p:spPr>
        <p:txBody>
          <a:bodyPr wrap="square" lIns="18288" rIns="18288" tIns="18288" bIns="18288">
            <a:spAutoFit/>
          </a:bodyPr>
          <a:lstStyle/>
          <a:p>
            <a:pPr>
              <a:spcAft>
                <a:spcPts val="500"/>
              </a:spcAft>
              <a:buNone/>
            </a:pPr>
            <a:r>
              <a:rPr sz="900" b="0" i="0">
                <a:solidFill>
                  <a:srgbClr val="595959"/>
                </a:solidFill>
                <a:latin typeface="Roboto"/>
              </a:rPr>
              <a:t>Recorded native campaign / 4 October 2026</a:t>
            </a:r>
          </a:p>
        </p:txBody>
      </p:sp>
      <p:sp>
        <p:nvSpPr>
          <p:cNvPr id="120" name="TextBox 119"/>
          <p:cNvSpPr txBox="1"/>
          <p:nvPr/>
        </p:nvSpPr>
        <p:spPr>
          <a:xfrm>
            <a:off x="731520" y="4078224"/>
            <a:ext cx="4023360" cy="256032"/>
          </a:xfrm>
          <a:prstGeom prst="rect">
            <a:avLst/>
          </a:prstGeom>
          <a:noFill/>
        </p:spPr>
        <p:txBody>
          <a:bodyPr wrap="square" lIns="18288" rIns="18288" tIns="18288" bIns="18288">
            <a:spAutoFit/>
          </a:bodyPr>
          <a:lstStyle/>
          <a:p>
            <a:pPr>
              <a:spcAft>
                <a:spcPts val="500"/>
              </a:spcAft>
              <a:buNone/>
            </a:pPr>
            <a:r>
              <a:rPr sz="1100" b="1" i="0">
                <a:solidFill>
                  <a:srgbClr val="0097A7"/>
                </a:solidFill>
                <a:latin typeface="Roboto"/>
              </a:rPr>
              <a:t>PR / patch → test record → reproducible next step</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17" name="Google Shape;117;p20"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8" name="Google Shape;118;p20"/>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Leave reviewable building blocks for the community to adopt and extend.</a:t>
            </a:r>
            <a:endParaRPr i="1" sz="1800">
              <a:solidFill>
                <a:schemeClr val="dk1"/>
              </a:solidFill>
              <a:latin typeface="Roboto"/>
              <a:ea typeface="Roboto"/>
              <a:cs typeface="Roboto"/>
              <a:sym typeface="Roboto"/>
            </a:endParaRPr>
          </a:p>
        </p:txBody>
      </p:sp>
      <p:sp>
        <p:nvSpPr>
          <p:cNvPr id="119" name="Google Shape;119;p20"/>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Useful to maintainers, integrators and testers.</a:t>
            </a:r>
            <a:endParaRPr sz="400">
              <a:latin typeface="Inter ExtraBold"/>
              <a:ea typeface="Inter ExtraBold"/>
              <a:cs typeface="Inter ExtraBold"/>
              <a:sym typeface="Inter ExtraBold"/>
            </a:endParaRPr>
          </a:p>
        </p:txBody>
      </p:sp>
      <p:sp>
        <p:nvSpPr>
          <p:cNvPr id="120" name="TextBox 119"/>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COMMUNITY BENEFIT &amp; CONTINUATION STORY  |  7%</a:t>
            </a:r>
          </a:p>
        </p:txBody>
      </p:sp>
      <p:sp>
        <p:nvSpPr>
          <p:cNvPr id="121" name="TextBox 120"/>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122" name="TextBox 121"/>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Maintainer PR</a:t>
            </a:r>
          </a:p>
        </p:txBody>
      </p:sp>
      <p:sp>
        <p:nvSpPr>
          <p:cNvPr id="123" name="TextBox 122"/>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Integration handover</a:t>
            </a:r>
          </a:p>
        </p:txBody>
      </p:sp>
      <p:sp>
        <p:nvSpPr>
          <p:cNvPr id="124" name="TextBox 123"/>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Router continuation</a:t>
            </a:r>
          </a:p>
        </p:txBody>
      </p:sp>
      <p:sp>
        <p:nvSpPr>
          <p:cNvPr id="125" name="Rectangle 124"/>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MAINTAINERS</a:t>
            </a:r>
          </a:p>
        </p:txBody>
      </p:sp>
      <p:sp>
        <p:nvSpPr>
          <p:cNvPr id="127" name="TextBox 126"/>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Review and adopt</a:t>
            </a:r>
          </a:p>
        </p:txBody>
      </p:sp>
      <p:sp>
        <p:nvSpPr>
          <p:cNvPr id="128" name="TextBox 127"/>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Bounded fixes and tests with recorded baselines and limitations.</a:t>
            </a:r>
          </a:p>
        </p:txBody>
      </p:sp>
      <p:sp>
        <p:nvSpPr>
          <p:cNvPr id="129" name="Rectangle 128"/>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INTEGRATORS</a:t>
            </a:r>
          </a:p>
        </p:txBody>
      </p:sp>
      <p:sp>
        <p:nvSpPr>
          <p:cNvPr id="131" name="TextBox 130"/>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Reuse the pattern</a:t>
            </a:r>
          </a:p>
        </p:txBody>
      </p:sp>
      <p:sp>
        <p:nvSpPr>
          <p:cNvPr id="132" name="TextBox 131"/>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Diagnostic adapters, vehicle contracts and deployment examples.</a:t>
            </a:r>
          </a:p>
        </p:txBody>
      </p:sp>
      <p:sp>
        <p:nvSpPr>
          <p:cNvPr id="133" name="Rectangle 132"/>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TEST ENGINEERS</a:t>
            </a:r>
          </a:p>
        </p:txBody>
      </p:sp>
      <p:sp>
        <p:nvSpPr>
          <p:cNvPr id="135" name="TextBox 134"/>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Repeat the evidence</a:t>
            </a:r>
          </a:p>
        </p:txBody>
      </p:sp>
      <p:sp>
        <p:nvSpPr>
          <p:cNvPr id="136" name="TextBox 135"/>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Fault campaigns, recovery checks and inspectable verdict artifacts.</a:t>
            </a:r>
          </a:p>
        </p:txBody>
      </p:sp>
      <p:sp>
        <p:nvSpPr>
          <p:cNvPr id="137" name="TextBox 136"/>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Next: resolve native gates → obtain project review → repeat with another contributor.</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25" name="Google Shape;125;p21"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26" name="Google Shape;126;p21"/>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Each selected contribution has an issue, an artifact and a concrete next action.</a:t>
            </a:r>
            <a:endParaRPr i="1" sz="1800">
              <a:solidFill>
                <a:schemeClr val="dk1"/>
              </a:solidFill>
              <a:latin typeface="Roboto"/>
              <a:ea typeface="Roboto"/>
              <a:cs typeface="Roboto"/>
              <a:sym typeface="Roboto"/>
            </a:endParaRPr>
          </a:p>
        </p:txBody>
      </p:sp>
      <p:sp>
        <p:nvSpPr>
          <p:cNvPr id="127" name="Google Shape;127;p21"/>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Existing project work, moved forward.</a:t>
            </a:r>
            <a:endParaRPr sz="400">
              <a:latin typeface="Inter ExtraBold"/>
              <a:ea typeface="Inter ExtraBold"/>
              <a:cs typeface="Inter ExtraBold"/>
              <a:sym typeface="Inter ExtraBold"/>
            </a:endParaRPr>
          </a:p>
        </p:txBody>
      </p:sp>
      <p:sp>
        <p:nvSpPr>
          <p:cNvPr id="128" name="TextBox 127"/>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CONTRIBUTION FOCUS &amp; INITIATIVE  |  5%</a:t>
            </a:r>
          </a:p>
        </p:txBody>
      </p:sp>
      <p:sp>
        <p:nvSpPr>
          <p:cNvPr id="129" name="TextBox 128"/>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130" name="TextBox 129"/>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4"/>
              </a:rPr>
              <a:t>Existing COM issue</a:t>
            </a:r>
          </a:p>
        </p:txBody>
      </p:sp>
      <p:sp>
        <p:nvSpPr>
          <p:cNvPr id="131" name="TextBox 130"/>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5"/>
              </a:rPr>
              <a:t>Existing diagnostics issue</a:t>
            </a:r>
          </a:p>
        </p:txBody>
      </p:sp>
      <p:sp>
        <p:nvSpPr>
          <p:cNvPr id="132" name="TextBox 131"/>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Lifecycle #704</a:t>
            </a:r>
          </a:p>
        </p:txBody>
      </p:sp>
      <p:sp>
        <p:nvSpPr>
          <p:cNvPr id="133" name="Rectangle 132"/>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COM #1167</a:t>
            </a:r>
          </a:p>
        </p:txBody>
      </p:sp>
      <p:sp>
        <p:nvSpPr>
          <p:cNvPr id="135" name="TextBox 134"/>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PR #1335</a:t>
            </a:r>
          </a:p>
        </p:txBody>
      </p:sp>
      <p:sp>
        <p:nvSpPr>
          <p:cNvPr id="136" name="TextBox 135"/>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Integration coverage submitted. Next: CI and maintainer review.</a:t>
            </a:r>
          </a:p>
        </p:txBody>
      </p:sp>
      <p:sp>
        <p:nvSpPr>
          <p:cNvPr id="137" name="Rectangle 136"/>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DIAGNOSTICS #16</a:t>
            </a:r>
          </a:p>
        </p:txBody>
      </p:sp>
      <p:sp>
        <p:nvSpPr>
          <p:cNvPr id="139" name="TextBox 138"/>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PR #40</a:t>
            </a:r>
          </a:p>
        </p:txBody>
      </p:sp>
      <p:sp>
        <p:nvSpPr>
          <p:cNvPr id="140" name="TextBox 139"/>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Provider adapter submitted. Next: author/ECA and native validation.</a:t>
            </a:r>
          </a:p>
        </p:txBody>
      </p:sp>
      <p:sp>
        <p:nvSpPr>
          <p:cNvPr id="141" name="Rectangle 140"/>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LIFECYCLE #704</a:t>
            </a:r>
          </a:p>
        </p:txBody>
      </p:sp>
      <p:sp>
        <p:nvSpPr>
          <p:cNvPr id="143" name="TextBox 142"/>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Verified patch</a:t>
            </a:r>
          </a:p>
        </p:txBody>
      </p:sp>
      <p:sp>
        <p:nvSpPr>
          <p:cNvPr id="144" name="TextBox 143"/>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Configuration deduplication. Next: native upstream submission.</a:t>
            </a:r>
          </a:p>
        </p:txBody>
      </p:sp>
      <p:sp>
        <p:nvSpPr>
          <p:cNvPr id="145" name="TextBox 144"/>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Prepared core: 4 Oct. Hardware and gateway evidence: 6–7 Oct. Attribution stays explicit.</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1B4C"/>
            </a:gs>
            <a:gs pos="100000">
              <a:srgbClr val="AB0761"/>
            </a:gs>
          </a:gsLst>
          <a:lin ang="2700006" scaled="0"/>
        </a:gradFill>
      </p:bgPr>
    </p:bg>
    <p:spTree>
      <p:nvGrpSpPr>
        <p:cNvPr id="131" name="Shape 131"/>
        <p:cNvGrpSpPr/>
        <p:nvPr/>
      </p:nvGrpSpPr>
      <p:grpSpPr>
        <a:xfrm>
          <a:off x="0" y="0"/>
          <a:ext cx="0" cy="0"/>
          <a:chOff x="0" y="0"/>
          <a:chExt cx="0" cy="0"/>
        </a:xfrm>
      </p:grpSpPr>
      <p:grpSp>
        <p:nvGrpSpPr>
          <p:cNvPr id="132" name="Google Shape;132;p22"/>
          <p:cNvGrpSpPr/>
          <p:nvPr/>
        </p:nvGrpSpPr>
        <p:grpSpPr>
          <a:xfrm>
            <a:off x="597450" y="4235100"/>
            <a:ext cx="2423155" cy="456311"/>
            <a:chOff x="0" y="-9525"/>
            <a:chExt cx="1344032" cy="415925"/>
          </a:xfrm>
        </p:grpSpPr>
        <p:sp>
          <p:nvSpPr>
            <p:cNvPr id="133" name="Google Shape;133;p22"/>
            <p:cNvSpPr/>
            <p:nvPr/>
          </p:nvSpPr>
          <p:spPr>
            <a:xfrm>
              <a:off x="0" y="0"/>
              <a:ext cx="1344032" cy="406400"/>
            </a:xfrm>
            <a:custGeom>
              <a:rect b="b" l="l" r="r" t="t"/>
              <a:pathLst>
                <a:path extrusionOk="0" h="406400" w="1344032">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cap="sq" cmpd="sng" w="13850">
              <a:solidFill>
                <a:srgbClr val="000000"/>
              </a:solidFill>
              <a:prstDash val="solid"/>
              <a:miter lim="8000"/>
              <a:headEnd len="sm" w="sm" type="none"/>
              <a:tailEnd len="sm" w="sm" type="none"/>
            </a:ln>
          </p:spPr>
          <p:txBody>
            <a:bodyPr anchorCtr="0" anchor="ctr" bIns="66450" lIns="66450" spcFirstLastPara="1" rIns="66450" wrap="square" tIns="66450">
              <a:noAutofit/>
            </a:bodyPr>
            <a:lstStyle/>
            <a:p>
              <a:pPr indent="0" lvl="0" marL="0" rtl="0" algn="l">
                <a:spcBef>
                  <a:spcPts val="0"/>
                </a:spcBef>
                <a:spcAft>
                  <a:spcPts val="0"/>
                </a:spcAft>
                <a:buNone/>
              </a:pPr>
              <a:r>
                <a:t/>
              </a:r>
              <a:endParaRPr/>
            </a:p>
          </p:txBody>
        </p:sp>
        <p:sp>
          <p:nvSpPr>
            <p:cNvPr id="134" name="Google Shape;134;p22"/>
            <p:cNvSpPr txBox="1"/>
            <p:nvPr/>
          </p:nvSpPr>
          <p:spPr>
            <a:xfrm>
              <a:off x="0" y="-9525"/>
              <a:ext cx="1344000" cy="415800"/>
            </a:xfrm>
            <a:prstGeom prst="rect">
              <a:avLst/>
            </a:prstGeom>
            <a:noFill/>
            <a:ln>
              <a:noFill/>
            </a:ln>
          </p:spPr>
          <p:txBody>
            <a:bodyPr anchorCtr="0" anchor="ctr" bIns="36900" lIns="36900" spcFirstLastPara="1" rIns="36900" wrap="square" tIns="36900">
              <a:noAutofit/>
            </a:bodyPr>
            <a:lstStyle/>
            <a:p>
              <a:pPr indent="0" lvl="0" marL="0" marR="0" rtl="0" algn="ctr">
                <a:lnSpc>
                  <a:spcPct val="120000"/>
                </a:lnSpc>
                <a:spcBef>
                  <a:spcPts val="0"/>
                </a:spcBef>
                <a:spcAft>
                  <a:spcPts val="0"/>
                </a:spcAft>
                <a:buNone/>
              </a:pPr>
              <a:r>
                <a:t/>
              </a:r>
              <a:endParaRPr b="0" i="0" sz="1308" u="none" cap="none" strike="noStrike">
                <a:solidFill>
                  <a:schemeClr val="dk1"/>
                </a:solidFill>
                <a:latin typeface="Calibri"/>
                <a:ea typeface="Calibri"/>
                <a:cs typeface="Calibri"/>
                <a:sym typeface="Calibri"/>
              </a:endParaRPr>
            </a:p>
          </p:txBody>
        </p:sp>
      </p:grpSp>
      <p:sp>
        <p:nvSpPr>
          <p:cNvPr id="135" name="Google Shape;135;p22"/>
          <p:cNvSpPr txBox="1"/>
          <p:nvPr/>
        </p:nvSpPr>
        <p:spPr>
          <a:xfrm>
            <a:off x="531150" y="1979650"/>
            <a:ext cx="5610600" cy="456300"/>
          </a:xfrm>
          <a:prstGeom prst="rect">
            <a:avLst/>
          </a:prstGeom>
          <a:noFill/>
          <a:ln>
            <a:noFill/>
          </a:ln>
        </p:spPr>
        <p:txBody>
          <a:bodyPr anchorCtr="0" anchor="t" bIns="18288" lIns="18288" spcFirstLastPara="1" rIns="18288" wrap="square" tIns="18288">
            <a:spAutoFit/>
          </a:bodyPr>
          <a:lstStyle/>
          <a:p>
            <a:pPr indent="0" lvl="0" marL="0" marR="0" rtl="0" algn="l">
              <a:lnSpc>
                <a:spcPct val="97999"/>
              </a:lnSpc>
              <a:spcBef>
                <a:spcPts val="0"/>
              </a:spcBef>
              <a:spcAft>
                <a:spcPts val="500"/>
              </a:spcAft>
              <a:buNone/>
            </a:pPr>
            <a:r>
              <a:rPr sz="2800" b="0" i="0">
                <a:solidFill>
                  <a:srgbClr val="FFFFFF"/>
                </a:solidFill>
                <a:latin typeface="Arial"/>
              </a:rPr>
              <a:t>Built to be continued.</a:t>
            </a:r>
            <a:endParaRPr b="1" sz="2800">
              <a:solidFill>
                <a:srgbClr val="DB521D"/>
              </a:solidFill>
            </a:endParaRPr>
          </a:p>
        </p:txBody>
      </p:sp>
      <p:grpSp>
        <p:nvGrpSpPr>
          <p:cNvPr id="136" name="Google Shape;136;p22"/>
          <p:cNvGrpSpPr/>
          <p:nvPr/>
        </p:nvGrpSpPr>
        <p:grpSpPr>
          <a:xfrm>
            <a:off x="560650" y="2571750"/>
            <a:ext cx="4855381" cy="958407"/>
            <a:chOff x="0" y="-9525"/>
            <a:chExt cx="935400" cy="374100"/>
          </a:xfrm>
        </p:grpSpPr>
        <p:sp>
          <p:nvSpPr>
            <p:cNvPr id="137" name="Google Shape;137;p22"/>
            <p:cNvSpPr/>
            <p:nvPr/>
          </p:nvSpPr>
          <p:spPr>
            <a:xfrm>
              <a:off x="0" y="0"/>
              <a:ext cx="935371" cy="364517"/>
            </a:xfrm>
            <a:custGeom>
              <a:rect b="b" l="l" r="r" t="t"/>
              <a:pathLst>
                <a:path extrusionOk="0" h="364517" w="935371">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cap="sq" cmpd="sng" w="9525">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8" name="Google Shape;138;p22"/>
            <p:cNvSpPr txBox="1"/>
            <p:nvPr/>
          </p:nvSpPr>
          <p:spPr>
            <a:xfrm>
              <a:off x="0" y="-9525"/>
              <a:ext cx="935400" cy="374100"/>
            </a:xfrm>
            <a:prstGeom prst="rect">
              <a:avLst/>
            </a:prstGeom>
            <a:noFill/>
            <a:ln>
              <a:noFill/>
            </a:ln>
          </p:spPr>
          <p:txBody>
            <a:bodyPr anchorCtr="0" anchor="ctr" bIns="25400" lIns="25400" spcFirstLastPara="1" rIns="25400" wrap="square" tIns="25400">
              <a:noAutofit/>
            </a:bodyPr>
            <a:lstStyle/>
            <a:p>
              <a:pPr indent="0" lvl="0" marL="0" marR="0" rtl="0" algn="ctr">
                <a:lnSpc>
                  <a:spcPct val="12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9" name="Google Shape;139;p22"/>
          <p:cNvSpPr txBox="1"/>
          <p:nvPr/>
        </p:nvSpPr>
        <p:spPr>
          <a:xfrm>
            <a:off x="928825" y="4362650"/>
            <a:ext cx="1760400" cy="1692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 sz="1100">
                <a:solidFill>
                  <a:srgbClr val="FFFFFF"/>
                </a:solidFill>
                <a:latin typeface="Sora"/>
                <a:ea typeface="Sora"/>
                <a:cs typeface="Sora"/>
                <a:sym typeface="Sora"/>
              </a:rPr>
              <a:t>October 6-8 </a:t>
            </a:r>
            <a:r>
              <a:rPr b="1" i="0" lang="en" sz="1100" u="none" cap="none" strike="noStrike">
                <a:solidFill>
                  <a:srgbClr val="FFFFFF"/>
                </a:solidFill>
                <a:latin typeface="Sora"/>
                <a:ea typeface="Sora"/>
                <a:cs typeface="Sora"/>
                <a:sym typeface="Sora"/>
              </a:rPr>
              <a:t> 2026</a:t>
            </a:r>
            <a:endParaRPr b="1" sz="700">
              <a:latin typeface="Sora"/>
              <a:ea typeface="Sora"/>
              <a:cs typeface="Sora"/>
              <a:sym typeface="Sora"/>
            </a:endParaRPr>
          </a:p>
        </p:txBody>
      </p:sp>
      <p:cxnSp>
        <p:nvCxnSpPr>
          <p:cNvPr id="140" name="Google Shape;140;p22"/>
          <p:cNvCxnSpPr/>
          <p:nvPr/>
        </p:nvCxnSpPr>
        <p:spPr>
          <a:xfrm>
            <a:off x="656394" y="3946404"/>
            <a:ext cx="2148300" cy="0"/>
          </a:xfrm>
          <a:prstGeom prst="straightConnector1">
            <a:avLst/>
          </a:prstGeom>
          <a:noFill/>
          <a:ln cap="flat" cmpd="sng" w="19050">
            <a:solidFill>
              <a:srgbClr val="000000"/>
            </a:solidFill>
            <a:prstDash val="solid"/>
            <a:round/>
            <a:headEnd len="sm" w="sm" type="none"/>
            <a:tailEnd len="sm" w="sm" type="none"/>
          </a:ln>
        </p:spPr>
      </p:cxnSp>
      <p:sp>
        <p:nvSpPr>
          <p:cNvPr id="141" name="Google Shape;141;p22"/>
          <p:cNvSpPr/>
          <p:nvPr/>
        </p:nvSpPr>
        <p:spPr>
          <a:xfrm>
            <a:off x="2395624" y="512011"/>
            <a:ext cx="1376366" cy="702594"/>
          </a:xfrm>
          <a:custGeom>
            <a:rect b="b" l="l" r="r" t="t"/>
            <a:pathLst>
              <a:path extrusionOk="0" h="2284857" w="4475988">
                <a:moveTo>
                  <a:pt x="0" y="0"/>
                </a:moveTo>
                <a:lnTo>
                  <a:pt x="4475988" y="0"/>
                </a:lnTo>
                <a:lnTo>
                  <a:pt x="4475988" y="2284857"/>
                </a:lnTo>
                <a:lnTo>
                  <a:pt x="0" y="2284857"/>
                </a:lnTo>
                <a:lnTo>
                  <a:pt x="0" y="0"/>
                </a:lnTo>
                <a:close/>
              </a:path>
            </a:pathLst>
          </a:custGeom>
          <a:blipFill rotWithShape="1">
            <a:blip r:embed="rId3">
              <a:alphaModFix/>
            </a:blip>
            <a:stretch>
              <a:fillRect b="-3200" l="-6430" r="-6420" t="0"/>
            </a:stretch>
          </a:blipFill>
          <a:ln>
            <a:noFill/>
          </a:ln>
        </p:spPr>
      </p:sp>
      <p:sp>
        <p:nvSpPr>
          <p:cNvPr id="142" name="Google Shape;142;p22"/>
          <p:cNvSpPr/>
          <p:nvPr/>
        </p:nvSpPr>
        <p:spPr>
          <a:xfrm>
            <a:off x="168246" y="329995"/>
            <a:ext cx="2423160" cy="1066609"/>
          </a:xfrm>
          <a:custGeom>
            <a:rect b="b" l="l" r="r" t="t"/>
            <a:pathLst>
              <a:path extrusionOk="0" h="2844292" w="6461760">
                <a:moveTo>
                  <a:pt x="0" y="0"/>
                </a:moveTo>
                <a:lnTo>
                  <a:pt x="6461760" y="0"/>
                </a:lnTo>
                <a:lnTo>
                  <a:pt x="6461760" y="2844292"/>
                </a:lnTo>
                <a:lnTo>
                  <a:pt x="0" y="2844292"/>
                </a:lnTo>
                <a:lnTo>
                  <a:pt x="0" y="0"/>
                </a:lnTo>
                <a:close/>
              </a:path>
            </a:pathLst>
          </a:custGeom>
          <a:blipFill rotWithShape="1">
            <a:blip r:embed="rId4">
              <a:alphaModFix/>
            </a:blip>
            <a:stretch>
              <a:fillRect b="0" l="0" r="-60" t="0"/>
            </a:stretch>
          </a:blipFill>
          <a:ln>
            <a:noFill/>
          </a:ln>
        </p:spPr>
      </p:sp>
      <p:pic>
        <p:nvPicPr>
          <p:cNvPr id="143" name="Google Shape;143;p22"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44" name="Google Shape;144;p22"/>
          <p:cNvSpPr txBox="1"/>
          <p:nvPr/>
        </p:nvSpPr>
        <p:spPr>
          <a:xfrm>
            <a:off x="850225" y="2767913"/>
            <a:ext cx="4122600" cy="627900"/>
          </a:xfrm>
          <a:prstGeom prst="rect">
            <a:avLst/>
          </a:prstGeom>
          <a:noFill/>
          <a:ln>
            <a:noFill/>
          </a:ln>
        </p:spPr>
        <p:txBody>
          <a:bodyPr anchorCtr="0" anchor="t" bIns="18288" lIns="18288" spcFirstLastPara="1" rIns="18288" wrap="square" tIns="18288">
            <a:noAutofit/>
          </a:bodyPr>
          <a:lstStyle/>
          <a:p>
            <a:pPr indent="0" lvl="0" marL="0" rtl="0" algn="ctr">
              <a:spcBef>
                <a:spcPts val="0"/>
              </a:spcBef>
              <a:spcAft>
                <a:spcPts val="500"/>
              </a:spcAft>
              <a:buNone/>
            </a:pPr>
            <a:r>
              <a:rPr sz="1800" b="1" i="0">
                <a:solidFill>
                  <a:srgbClr val="FFFFFF"/>
                </a:solidFill>
                <a:latin typeface="Inter"/>
              </a:rPr>
              <a:t>Review the patches.</a:t>
            </a:r>
            <a:endParaRPr b="1" sz="1800">
              <a:solidFill>
                <a:schemeClr val="lt1"/>
              </a:solidFill>
              <a:latin typeface="Inter"/>
              <a:ea typeface="Inter"/>
              <a:cs typeface="Inter"/>
              <a:sym typeface="Inter"/>
            </a:endParaRPr>
          </a:p>
          <a:p>
            <a:pPr>
              <a:spcAft>
                <a:spcPts val="500"/>
              </a:spcAft>
              <a:buNone/>
            </a:pPr>
            <a:r>
              <a:rPr sz="1800" b="1" i="0">
                <a:solidFill>
                  <a:srgbClr val="FFFFFF"/>
                </a:solidFill>
                <a:latin typeface="Inter"/>
              </a:rPr>
              <a:t>Run the evidence.</a:t>
            </a:r>
          </a:p>
        </p:txBody>
      </p:sp>
      <p:sp>
        <p:nvSpPr>
          <p:cNvPr id="145" name="Google Shape;145;p22"/>
          <p:cNvSpPr txBox="1"/>
          <p:nvPr/>
        </p:nvSpPr>
        <p:spPr>
          <a:xfrm>
            <a:off x="3227575" y="4779825"/>
            <a:ext cx="30000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
        <p:nvSpPr>
          <p:cNvPr id="146" name="TextBox 145">
            <a:hlinkClick r:id="rId6"/>
          </p:cNvPr>
          <p:cNvSpPr txBox="1"/>
          <p:nvPr/>
        </p:nvSpPr>
        <p:spPr>
          <a:xfrm>
            <a:off x="758952" y="3666744"/>
            <a:ext cx="4754880" cy="210312"/>
          </a:xfrm>
          <a:prstGeom prst="rect">
            <a:avLst/>
          </a:prstGeom>
          <a:noFill/>
        </p:spPr>
        <p:txBody>
          <a:bodyPr wrap="square" lIns="18288" rIns="18288" tIns="18288" bIns="18288">
            <a:spAutoFit/>
          </a:bodyPr>
          <a:lstStyle/>
          <a:p>
            <a:pPr>
              <a:spcAft>
                <a:spcPts val="500"/>
              </a:spcAft>
              <a:buNone/>
            </a:pPr>
            <a:r>
              <a:rPr sz="1000" b="0" i="0">
                <a:solidFill>
                  <a:srgbClr val="FFFFFF"/>
                </a:solidFill>
                <a:latin typeface="Roboto"/>
              </a:rPr>
              <a:t>github.com/Eclipse-SDV-Hackathon-Chapter-Four/Thinking_CAPs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2">
            <a:alphaModFix/>
          </a:blip>
          <a:stretch>
            <a:fillRect/>
          </a:stretch>
        </p:blipFill>
        <p:spPr>
          <a:xfrm>
            <a:off x="225475" y="4757277"/>
            <a:ext cx="684027" cy="255500"/>
          </a:xfrm>
          <a:prstGeom prst="rect">
            <a:avLst/>
          </a:prstGeom>
          <a:noFill/>
          <a:ln>
            <a:noFill/>
          </a:ln>
        </p:spPr>
      </p:pic>
      <p:sp>
        <p:nvSpPr>
          <p:cNvPr id="78" name="Google Shape;78;p15"/>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Three bonus technologies have meaningful runtime or testbench evidence.</a:t>
            </a:r>
            <a:endParaRPr i="1" sz="1800">
              <a:solidFill>
                <a:schemeClr val="dk1"/>
              </a:solidFill>
              <a:latin typeface="Roboto"/>
              <a:ea typeface="Roboto"/>
              <a:cs typeface="Roboto"/>
              <a:sym typeface="Roboto"/>
            </a:endParaRPr>
          </a:p>
        </p:txBody>
      </p:sp>
      <p:sp>
        <p:nvSpPr>
          <p:cNvPr id="79" name="Google Shape;79;p15"/>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Technology evidence, ready for inspection.</a:t>
            </a:r>
            <a:endParaRPr sz="400">
              <a:latin typeface="Inter ExtraBold"/>
              <a:ea typeface="Inter ExtraBold"/>
              <a:cs typeface="Inter ExtraBold"/>
              <a:sym typeface="Inter ExtraBold"/>
            </a:endParaRPr>
          </a:p>
        </p:txBody>
      </p:sp>
      <p:sp>
        <p:nvSpPr>
          <p:cNvPr id="80" name="TextBox 79"/>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EXTRA TECHNOLOGY POINTS</a:t>
            </a:r>
          </a:p>
        </p:txBody>
      </p:sp>
      <p:sp>
        <p:nvSpPr>
          <p:cNvPr id="81" name="TextBox 80"/>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82" name="TextBox 81"/>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openDuT testbench</a:t>
            </a:r>
          </a:p>
        </p:txBody>
      </p:sp>
      <p:sp>
        <p:nvSpPr>
          <p:cNvPr id="83" name="TextBox 82"/>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7"/>
              </a:rPr>
              <a:t>ThreadX hardware</a:t>
            </a:r>
          </a:p>
        </p:txBody>
      </p:sp>
      <p:sp>
        <p:nvSpPr>
          <p:cNvPr id="84" name="TextBox 83"/>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8"/>
              </a:rPr>
              <a:t>AutoSD VM</a:t>
            </a:r>
          </a:p>
        </p:txBody>
      </p:sp>
      <p:sp>
        <p:nvSpPr>
          <p:cNvPr id="85" name="Rectangle 84"/>
          <p:cNvSpPr/>
          <p:nvPr/>
        </p:nvSpPr>
        <p:spPr>
          <a:xfrm>
            <a:off x="73152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5953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openDuT / +0.10</a:t>
            </a:r>
          </a:p>
        </p:txBody>
      </p:sp>
      <p:sp>
        <p:nvSpPr>
          <p:cNvPr id="87" name="TextBox 86"/>
          <p:cNvSpPr txBox="1"/>
          <p:nvPr/>
        </p:nvSpPr>
        <p:spPr>
          <a:xfrm>
            <a:off x="85953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Managed bench</a:t>
            </a:r>
          </a:p>
        </p:txBody>
      </p:sp>
      <p:sp>
        <p:nvSpPr>
          <p:cNvPr id="88" name="TextBox 87"/>
          <p:cNvSpPr txBox="1"/>
          <p:nvPr/>
        </p:nvSpPr>
        <p:spPr>
          <a:xfrm>
            <a:off x="85953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Real receiver traffic, communication interruption and recovery.</a:t>
            </a:r>
          </a:p>
        </p:txBody>
      </p:sp>
      <p:sp>
        <p:nvSpPr>
          <p:cNvPr id="89" name="Rectangle 88"/>
          <p:cNvSpPr/>
          <p:nvPr/>
        </p:nvSpPr>
        <p:spPr>
          <a:xfrm>
            <a:off x="333756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6557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THREADX / +0.10</a:t>
            </a:r>
          </a:p>
        </p:txBody>
      </p:sp>
      <p:sp>
        <p:nvSpPr>
          <p:cNvPr id="91" name="TextBox 90"/>
          <p:cNvSpPr txBox="1"/>
          <p:nvPr/>
        </p:nvSpPr>
        <p:spPr>
          <a:xfrm>
            <a:off x="346557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Actual RTOS</a:t>
            </a:r>
          </a:p>
        </p:txBody>
      </p:sp>
      <p:sp>
        <p:nvSpPr>
          <p:cNvPr id="92" name="TextBox 91"/>
          <p:cNvSpPr txBox="1"/>
          <p:nvPr/>
        </p:nvSpPr>
        <p:spPr>
          <a:xfrm>
            <a:off x="346557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Linux simulation and physical AZ3166 lighting-controller evidence.</a:t>
            </a:r>
          </a:p>
        </p:txBody>
      </p:sp>
      <p:sp>
        <p:nvSpPr>
          <p:cNvPr id="93" name="Rectangle 92"/>
          <p:cNvSpPr/>
          <p:nvPr/>
        </p:nvSpPr>
        <p:spPr>
          <a:xfrm>
            <a:off x="5943600" y="1938528"/>
            <a:ext cx="2468880" cy="2084831"/>
          </a:xfrm>
          <a:prstGeom prst="rect">
            <a:avLst/>
          </a:prstGeom>
          <a:solidFill>
            <a:srgbClr val="F4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071616" y="2048256"/>
            <a:ext cx="2194560" cy="246888"/>
          </a:xfrm>
          <a:prstGeom prst="rect">
            <a:avLst/>
          </a:prstGeom>
          <a:noFill/>
        </p:spPr>
        <p:txBody>
          <a:bodyPr wrap="square" lIns="18288" rIns="18288" tIns="18288" bIns="18288">
            <a:spAutoFit/>
          </a:bodyPr>
          <a:lstStyle/>
          <a:p>
            <a:pPr>
              <a:spcAft>
                <a:spcPts val="500"/>
              </a:spcAft>
              <a:buNone/>
            </a:pPr>
            <a:r>
              <a:rPr sz="1000" b="1" i="0">
                <a:solidFill>
                  <a:srgbClr val="0097A7"/>
                </a:solidFill>
                <a:latin typeface="Inter"/>
              </a:rPr>
              <a:t>AUTOSD / +0.10</a:t>
            </a:r>
          </a:p>
        </p:txBody>
      </p:sp>
      <p:sp>
        <p:nvSpPr>
          <p:cNvPr id="95" name="TextBox 94"/>
          <p:cNvSpPr txBox="1"/>
          <p:nvPr/>
        </p:nvSpPr>
        <p:spPr>
          <a:xfrm>
            <a:off x="6071616" y="2395728"/>
            <a:ext cx="2194560" cy="658368"/>
          </a:xfrm>
          <a:prstGeom prst="rect">
            <a:avLst/>
          </a:prstGeom>
          <a:noFill/>
        </p:spPr>
        <p:txBody>
          <a:bodyPr wrap="square" lIns="18288" rIns="18288" tIns="18288" bIns="18288">
            <a:spAutoFit/>
          </a:bodyPr>
          <a:lstStyle/>
          <a:p>
            <a:pPr>
              <a:spcAft>
                <a:spcPts val="500"/>
              </a:spcAft>
              <a:buNone/>
            </a:pPr>
            <a:r>
              <a:rPr sz="1800" b="1" i="0">
                <a:solidFill>
                  <a:srgbClr val="701C7F"/>
                </a:solidFill>
                <a:latin typeface="Inter"/>
              </a:rPr>
              <a:t>Real guest</a:t>
            </a:r>
          </a:p>
        </p:txBody>
      </p:sp>
      <p:sp>
        <p:nvSpPr>
          <p:cNvPr id="96" name="TextBox 95"/>
          <p:cNvSpPr txBox="1"/>
          <p:nvPr/>
        </p:nvSpPr>
        <p:spPr>
          <a:xfrm>
            <a:off x="6071616" y="3118104"/>
            <a:ext cx="2194560" cy="859535"/>
          </a:xfrm>
          <a:prstGeom prst="rect">
            <a:avLst/>
          </a:prstGeom>
          <a:noFill/>
        </p:spPr>
        <p:txBody>
          <a:bodyPr wrap="square" lIns="18288" rIns="18288" tIns="18288" bIns="18288">
            <a:spAutoFit/>
          </a:bodyPr>
          <a:lstStyle/>
          <a:p>
            <a:pPr>
              <a:spcAft>
                <a:spcPts val="500"/>
              </a:spcAft>
              <a:buNone/>
            </a:pPr>
            <a:r>
              <a:rPr sz="1400" b="0" i="0">
                <a:solidFill>
                  <a:srgbClr val="222222"/>
                </a:solidFill>
                <a:latin typeface="Roboto"/>
              </a:rPr>
              <a:t>Deployment, diagnosis, managed disturbance and reboot evidence.</a:t>
            </a:r>
          </a:p>
        </p:txBody>
      </p:sp>
      <p:sp>
        <p:nvSpPr>
          <p:cNvPr id="97" name="TextBox 96"/>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Potential +0.30, subject to evaluation. Java/Jakarta is not claimed; final score is capped at 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2">
            <a:alphaModFix/>
          </a:blip>
          <a:stretch>
            <a:fillRect/>
          </a:stretch>
        </p:blipFill>
        <p:spPr>
          <a:xfrm>
            <a:off x="225475" y="4757277"/>
            <a:ext cx="684027" cy="255500"/>
          </a:xfrm>
          <a:prstGeom prst="rect">
            <a:avLst/>
          </a:prstGeom>
          <a:noFill/>
          <a:ln>
            <a:noFill/>
          </a:ln>
        </p:spPr>
      </p:pic>
      <p:sp>
        <p:nvSpPr>
          <p:cNvPr id="78" name="Google Shape;78;p15"/>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Each link identifies a bounded contribution or a recorded integration result.</a:t>
            </a:r>
            <a:endParaRPr i="1" sz="1800">
              <a:solidFill>
                <a:schemeClr val="dk1"/>
              </a:solidFill>
              <a:latin typeface="Roboto"/>
              <a:ea typeface="Roboto"/>
              <a:cs typeface="Roboto"/>
              <a:sym typeface="Roboto"/>
            </a:endParaRPr>
          </a:p>
        </p:txBody>
      </p:sp>
      <p:sp>
        <p:nvSpPr>
          <p:cNvPr id="79" name="Google Shape;79;p15"/>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Evidence index for the technical interview.</a:t>
            </a:r>
            <a:endParaRPr sz="400">
              <a:latin typeface="Inter ExtraBold"/>
              <a:ea typeface="Inter ExtraBold"/>
              <a:cs typeface="Inter ExtraBold"/>
              <a:sym typeface="Inter ExtraBold"/>
            </a:endParaRPr>
          </a:p>
        </p:txBody>
      </p:sp>
      <p:sp>
        <p:nvSpPr>
          <p:cNvPr id="80" name="TextBox 79"/>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APPENDIX / EVIDENCE</a:t>
            </a:r>
          </a:p>
        </p:txBody>
      </p:sp>
      <p:sp>
        <p:nvSpPr>
          <p:cNvPr id="81" name="TextBox 80"/>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82" name="TextBox 81"/>
          <p:cNvSpPr txBox="1"/>
          <p:nvPr/>
        </p:nvSpPr>
        <p:spPr>
          <a:xfrm>
            <a:off x="731520" y="186537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COM #1167 / native evidence</a:t>
            </a:r>
          </a:p>
        </p:txBody>
      </p:sp>
      <p:sp>
        <p:nvSpPr>
          <p:cNvPr id="83" name="TextBox 82"/>
          <p:cNvSpPr txBox="1"/>
          <p:nvPr/>
        </p:nvSpPr>
        <p:spPr>
          <a:xfrm>
            <a:off x="731520" y="214884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7"/>
              </a:rPr>
              <a:t>Open source / evidence record</a:t>
            </a:r>
          </a:p>
        </p:txBody>
      </p:sp>
      <p:sp>
        <p:nvSpPr>
          <p:cNvPr id="84" name="TextBox 83"/>
          <p:cNvSpPr txBox="1"/>
          <p:nvPr/>
        </p:nvSpPr>
        <p:spPr>
          <a:xfrm>
            <a:off x="4709159" y="186537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Lifecycle #704 / 113 cases</a:t>
            </a:r>
          </a:p>
        </p:txBody>
      </p:sp>
      <p:sp>
        <p:nvSpPr>
          <p:cNvPr id="85" name="TextBox 84"/>
          <p:cNvSpPr txBox="1"/>
          <p:nvPr/>
        </p:nvSpPr>
        <p:spPr>
          <a:xfrm>
            <a:off x="4709159" y="214884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8"/>
              </a:rPr>
              <a:t>Open source / evidence record</a:t>
            </a:r>
          </a:p>
        </p:txBody>
      </p:sp>
      <p:sp>
        <p:nvSpPr>
          <p:cNvPr id="86" name="TextBox 85"/>
          <p:cNvSpPr txBox="1"/>
          <p:nvPr/>
        </p:nvSpPr>
        <p:spPr>
          <a:xfrm>
            <a:off x="731520" y="241401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OpenBSW router / native gates</a:t>
            </a:r>
          </a:p>
        </p:txBody>
      </p:sp>
      <p:sp>
        <p:nvSpPr>
          <p:cNvPr id="87" name="TextBox 86"/>
          <p:cNvSpPr txBox="1"/>
          <p:nvPr/>
        </p:nvSpPr>
        <p:spPr>
          <a:xfrm>
            <a:off x="731520" y="269748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9"/>
              </a:rPr>
              <a:t>Open source / evidence record</a:t>
            </a:r>
          </a:p>
        </p:txBody>
      </p:sp>
      <p:sp>
        <p:nvSpPr>
          <p:cNvPr id="88" name="TextBox 87"/>
          <p:cNvSpPr txBox="1"/>
          <p:nvPr/>
        </p:nvSpPr>
        <p:spPr>
          <a:xfrm>
            <a:off x="4709159" y="241401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Receiver / physical verdicts</a:t>
            </a:r>
          </a:p>
        </p:txBody>
      </p:sp>
      <p:sp>
        <p:nvSpPr>
          <p:cNvPr id="89" name="TextBox 88"/>
          <p:cNvSpPr txBox="1"/>
          <p:nvPr/>
        </p:nvSpPr>
        <p:spPr>
          <a:xfrm>
            <a:off x="4709159" y="269748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10"/>
              </a:rPr>
              <a:t>Open source / evidence record</a:t>
            </a:r>
          </a:p>
        </p:txBody>
      </p:sp>
      <p:sp>
        <p:nvSpPr>
          <p:cNvPr id="90" name="TextBox 89"/>
          <p:cNvSpPr txBox="1"/>
          <p:nvPr/>
        </p:nvSpPr>
        <p:spPr>
          <a:xfrm>
            <a:off x="731520" y="296265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Dashboard / API and browser checks</a:t>
            </a:r>
          </a:p>
        </p:txBody>
      </p:sp>
      <p:sp>
        <p:nvSpPr>
          <p:cNvPr id="91" name="TextBox 90"/>
          <p:cNvSpPr txBox="1"/>
          <p:nvPr/>
        </p:nvSpPr>
        <p:spPr>
          <a:xfrm>
            <a:off x="731520" y="324612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11"/>
              </a:rPr>
              <a:t>Open source / evidence record</a:t>
            </a:r>
          </a:p>
        </p:txBody>
      </p:sp>
      <p:sp>
        <p:nvSpPr>
          <p:cNvPr id="92" name="TextBox 91"/>
          <p:cNvSpPr txBox="1"/>
          <p:nvPr/>
        </p:nvSpPr>
        <p:spPr>
          <a:xfrm>
            <a:off x="4709159" y="296265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ThreadX / hardware and CARLA</a:t>
            </a:r>
          </a:p>
        </p:txBody>
      </p:sp>
      <p:sp>
        <p:nvSpPr>
          <p:cNvPr id="93" name="TextBox 92"/>
          <p:cNvSpPr txBox="1"/>
          <p:nvPr/>
        </p:nvSpPr>
        <p:spPr>
          <a:xfrm>
            <a:off x="4709159" y="3246120"/>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12"/>
              </a:rPr>
              <a:t>Open source / evidence record</a:t>
            </a:r>
          </a:p>
        </p:txBody>
      </p:sp>
      <p:sp>
        <p:nvSpPr>
          <p:cNvPr id="94" name="TextBox 93"/>
          <p:cNvSpPr txBox="1"/>
          <p:nvPr/>
        </p:nvSpPr>
        <p:spPr>
          <a:xfrm>
            <a:off x="731520" y="351129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AutoSD / guest and source identities</a:t>
            </a:r>
          </a:p>
        </p:txBody>
      </p:sp>
      <p:sp>
        <p:nvSpPr>
          <p:cNvPr id="95" name="TextBox 94"/>
          <p:cNvSpPr txBox="1"/>
          <p:nvPr/>
        </p:nvSpPr>
        <p:spPr>
          <a:xfrm>
            <a:off x="731520" y="3794759"/>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13"/>
              </a:rPr>
              <a:t>Open source / evidence record</a:t>
            </a:r>
          </a:p>
        </p:txBody>
      </p:sp>
      <p:sp>
        <p:nvSpPr>
          <p:cNvPr id="96" name="TextBox 95"/>
          <p:cNvSpPr txBox="1"/>
          <p:nvPr/>
        </p:nvSpPr>
        <p:spPr>
          <a:xfrm>
            <a:off x="4709159" y="3511296"/>
            <a:ext cx="3794760" cy="256032"/>
          </a:xfrm>
          <a:prstGeom prst="rect">
            <a:avLst/>
          </a:prstGeom>
          <a:noFill/>
        </p:spPr>
        <p:txBody>
          <a:bodyPr wrap="square" lIns="18288" rIns="18288" tIns="18288" bIns="18288">
            <a:spAutoFit/>
          </a:bodyPr>
          <a:lstStyle/>
          <a:p>
            <a:pPr>
              <a:spcAft>
                <a:spcPts val="500"/>
              </a:spcAft>
              <a:buNone/>
            </a:pPr>
            <a:r>
              <a:rPr sz="1400" b="1" i="0">
                <a:solidFill>
                  <a:srgbClr val="701C7F"/>
                </a:solidFill>
                <a:latin typeface="Roboto"/>
              </a:rPr>
              <a:t>Fault storage / regression and patch</a:t>
            </a:r>
          </a:p>
        </p:txBody>
      </p:sp>
      <p:sp>
        <p:nvSpPr>
          <p:cNvPr id="97" name="TextBox 96"/>
          <p:cNvSpPr txBox="1"/>
          <p:nvPr/>
        </p:nvSpPr>
        <p:spPr>
          <a:xfrm>
            <a:off x="4709159" y="3794759"/>
            <a:ext cx="379476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14"/>
              </a:rPr>
              <a:t>Open source / evidence record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2">
            <a:alphaModFix/>
          </a:blip>
          <a:stretch>
            <a:fillRect/>
          </a:stretch>
        </p:blipFill>
        <p:spPr>
          <a:xfrm>
            <a:off x="225475" y="4757277"/>
            <a:ext cx="684027" cy="255500"/>
          </a:xfrm>
          <a:prstGeom prst="rect">
            <a:avLst/>
          </a:prstGeom>
          <a:noFill/>
          <a:ln>
            <a:noFill/>
          </a:ln>
        </p:spPr>
      </p:pic>
      <p:sp>
        <p:nvSpPr>
          <p:cNvPr id="78" name="Google Shape;78;p15"/>
          <p:cNvSpPr txBox="1"/>
          <p:nvPr/>
        </p:nvSpPr>
        <p:spPr>
          <a:xfrm>
            <a:off x="712125" y="1146700"/>
            <a:ext cx="7360200" cy="640080"/>
          </a:xfrm>
          <a:prstGeom prst="rect">
            <a:avLst/>
          </a:prstGeom>
          <a:noFill/>
          <a:ln>
            <a:noFill/>
          </a:ln>
        </p:spPr>
        <p:txBody>
          <a:bodyPr anchorCtr="0" anchor="t" bIns="18288" lIns="18288" spcFirstLastPara="1" rIns="18288" wrap="square" tIns="18288">
            <a:noAutofit/>
          </a:bodyPr>
          <a:lstStyle/>
          <a:p>
            <a:pPr indent="0" lvl="0" marL="12700" rtl="0" algn="l">
              <a:spcBef>
                <a:spcPts val="0"/>
              </a:spcBef>
              <a:spcAft>
                <a:spcPts val="500"/>
              </a:spcAft>
              <a:buNone/>
            </a:pPr>
            <a:r>
              <a:rPr sz="1800" b="0" i="0">
                <a:solidFill>
                  <a:srgbClr val="222222"/>
                </a:solidFill>
                <a:latin typeface="Roboto"/>
              </a:rPr>
              <a:t>Five contributors; clear ownership; preserved preparation and event-work boundaries.</a:t>
            </a:r>
            <a:endParaRPr i="1" sz="1800">
              <a:solidFill>
                <a:schemeClr val="dk1"/>
              </a:solidFill>
              <a:latin typeface="Roboto"/>
              <a:ea typeface="Roboto"/>
              <a:cs typeface="Roboto"/>
              <a:sym typeface="Roboto"/>
            </a:endParaRPr>
          </a:p>
        </p:txBody>
      </p:sp>
      <p:sp>
        <p:nvSpPr>
          <p:cNvPr id="79" name="Google Shape;79;p15"/>
          <p:cNvSpPr txBox="1"/>
          <p:nvPr/>
        </p:nvSpPr>
        <p:spPr>
          <a:xfrm>
            <a:off x="712125" y="628750"/>
            <a:ext cx="7818120" cy="464700"/>
          </a:xfrm>
          <a:prstGeom prst="rect">
            <a:avLst/>
          </a:prstGeom>
          <a:noFill/>
          <a:ln>
            <a:noFill/>
          </a:ln>
        </p:spPr>
        <p:txBody>
          <a:bodyPr anchorCtr="0" anchor="t" bIns="18288" lIns="18288" spcFirstLastPara="1" rIns="18288" wrap="square" tIns="18288">
            <a:spAutoFit/>
          </a:bodyPr>
          <a:lstStyle/>
          <a:p>
            <a:pPr indent="0" lvl="0" marL="0" rtl="0" algn="l">
              <a:spcBef>
                <a:spcPts val="0"/>
              </a:spcBef>
              <a:spcAft>
                <a:spcPts val="500"/>
              </a:spcAft>
              <a:buNone/>
            </a:pPr>
            <a:r>
              <a:rPr sz="1820" b="1" i="0">
                <a:solidFill>
                  <a:srgbClr val="701C7F"/>
                </a:solidFill>
                <a:latin typeface="Inter"/>
              </a:rPr>
              <a:t>Team, scope and template attribution.</a:t>
            </a:r>
            <a:endParaRPr sz="400">
              <a:latin typeface="Inter ExtraBold"/>
              <a:ea typeface="Inter ExtraBold"/>
              <a:cs typeface="Inter ExtraBold"/>
              <a:sym typeface="Inter ExtraBold"/>
            </a:endParaRPr>
          </a:p>
        </p:txBody>
      </p:sp>
      <p:sp>
        <p:nvSpPr>
          <p:cNvPr id="80" name="TextBox 79"/>
          <p:cNvSpPr txBox="1"/>
          <p:nvPr/>
        </p:nvSpPr>
        <p:spPr>
          <a:xfrm>
            <a:off x="731520" y="310896"/>
            <a:ext cx="7772400" cy="219456"/>
          </a:xfrm>
          <a:prstGeom prst="rect">
            <a:avLst/>
          </a:prstGeom>
          <a:noFill/>
        </p:spPr>
        <p:txBody>
          <a:bodyPr wrap="square" lIns="18288" rIns="18288" tIns="18288" bIns="18288">
            <a:spAutoFit/>
          </a:bodyPr>
          <a:lstStyle/>
          <a:p>
            <a:pPr>
              <a:spcAft>
                <a:spcPts val="500"/>
              </a:spcAft>
              <a:buNone/>
            </a:pPr>
            <a:r>
              <a:rPr sz="900" b="1" i="0">
                <a:solidFill>
                  <a:srgbClr val="0097A7"/>
                </a:solidFill>
                <a:latin typeface="Inter"/>
              </a:rPr>
              <a:t>APPENDIX / TEAM &amp; SOURCES</a:t>
            </a:r>
          </a:p>
        </p:txBody>
      </p:sp>
      <p:sp>
        <p:nvSpPr>
          <p:cNvPr id="81" name="TextBox 80"/>
          <p:cNvSpPr txBox="1"/>
          <p:nvPr/>
        </p:nvSpPr>
        <p:spPr>
          <a:xfrm>
            <a:off x="7406640" y="4818888"/>
            <a:ext cx="1143000" cy="182880"/>
          </a:xfrm>
          <a:prstGeom prst="rect">
            <a:avLst/>
          </a:prstGeom>
          <a:noFill/>
        </p:spPr>
        <p:txBody>
          <a:bodyPr wrap="square" lIns="18288" rIns="18288" tIns="18288" bIns="18288">
            <a:spAutoFit/>
          </a:bodyPr>
          <a:lstStyle/>
          <a:p>
            <a:pPr>
              <a:spcAft>
                <a:spcPts val="500"/>
              </a:spcAft>
              <a:buNone/>
            </a:pPr>
            <a:r>
              <a:rPr sz="700" b="1" i="0">
                <a:solidFill>
                  <a:srgbClr val="595959"/>
                </a:solidFill>
                <a:latin typeface="Inter"/>
              </a:rPr>
              <a:t>THINKING CAPs</a:t>
            </a:r>
          </a:p>
        </p:txBody>
      </p:sp>
      <p:sp>
        <p:nvSpPr>
          <p:cNvPr id="82" name="TextBox 81"/>
          <p:cNvSpPr txBox="1"/>
          <p:nvPr/>
        </p:nvSpPr>
        <p:spPr>
          <a:xfrm>
            <a:off x="73152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6"/>
              </a:rPr>
              <a:t>Official slide template</a:t>
            </a:r>
          </a:p>
        </p:txBody>
      </p:sp>
      <p:sp>
        <p:nvSpPr>
          <p:cNvPr id="83" name="TextBox 82"/>
          <p:cNvSpPr txBox="1"/>
          <p:nvPr/>
        </p:nvSpPr>
        <p:spPr>
          <a:xfrm>
            <a:off x="333756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7"/>
              </a:rPr>
              <a:t>Pitching-session guide</a:t>
            </a:r>
          </a:p>
        </p:txBody>
      </p:sp>
      <p:sp>
        <p:nvSpPr>
          <p:cNvPr id="84" name="TextBox 83"/>
          <p:cNvSpPr txBox="1"/>
          <p:nvPr/>
        </p:nvSpPr>
        <p:spPr>
          <a:xfrm>
            <a:off x="5943600" y="4434840"/>
            <a:ext cx="2514600" cy="210312"/>
          </a:xfrm>
          <a:prstGeom prst="rect">
            <a:avLst/>
          </a:prstGeom>
          <a:noFill/>
        </p:spPr>
        <p:txBody>
          <a:bodyPr wrap="square" lIns="18288" rIns="18288" tIns="18288" bIns="18288">
            <a:spAutoFit/>
          </a:bodyPr>
          <a:lstStyle/>
          <a:p>
            <a:pPr>
              <a:spcAft>
                <a:spcPts val="500"/>
              </a:spcAft>
              <a:buNone/>
            </a:pPr>
            <a:r>
              <a:rPr sz="900" b="0" i="0">
                <a:solidFill>
                  <a:srgbClr val="0097A7"/>
                </a:solidFill>
                <a:latin typeface="Roboto"/>
                <a:hlinkClick r:id="rId8"/>
              </a:rPr>
              <a:t>Freestyle scorecard</a:t>
            </a:r>
          </a:p>
        </p:txBody>
      </p:sp>
      <p:sp>
        <p:nvSpPr>
          <p:cNvPr id="85" name="TextBox 84"/>
          <p:cNvSpPr txBox="1"/>
          <p:nvPr/>
        </p:nvSpPr>
        <p:spPr>
          <a:xfrm>
            <a:off x="731520" y="1920240"/>
            <a:ext cx="7772400" cy="2194560"/>
          </a:xfrm>
          <a:prstGeom prst="rect">
            <a:avLst/>
          </a:prstGeom>
          <a:noFill/>
        </p:spPr>
        <p:txBody>
          <a:bodyPr wrap="square" lIns="18288" rIns="18288" tIns="18288" bIns="18288">
            <a:spAutoFit/>
          </a:bodyPr>
          <a:lstStyle/>
          <a:p>
            <a:pPr>
              <a:spcAft>
                <a:spcPts val="500"/>
              </a:spcAft>
              <a:buNone/>
            </a:pPr>
            <a:r>
              <a:rPr sz="1600" b="0" i="0">
                <a:solidFill>
                  <a:srgbClr val="222222"/>
                </a:solidFill>
                <a:latin typeface="Roboto"/>
              </a:rPr>
              <a:t>Jefferson Nascimento — architecture, factory, ECU contributions</a:t>
            </a:r>
          </a:p>
          <a:p>
            <a:pPr>
              <a:spcAft>
                <a:spcPts val="500"/>
              </a:spcAft>
              <a:buNone/>
            </a:pPr>
            <a:r>
              <a:rPr sz="1600" b="0" i="0">
                <a:solidFill>
                  <a:srgbClr val="222222"/>
                </a:solidFill>
                <a:latin typeface="Roboto"/>
              </a:rPr>
              <a:t>Bruno Campos — S-CORE application and X-Verse integration</a:t>
            </a:r>
          </a:p>
          <a:p>
            <a:pPr>
              <a:spcAft>
                <a:spcPts val="500"/>
              </a:spcAft>
              <a:buNone/>
            </a:pPr>
            <a:r>
              <a:rPr sz="1600" b="0" i="0">
                <a:solidFill>
                  <a:srgbClr val="222222"/>
                </a:solidFill>
                <a:latin typeface="Roboto"/>
              </a:rPr>
              <a:t>Puru — OpenSOVD / CDA adapters and dashboard</a:t>
            </a:r>
          </a:p>
          <a:p>
            <a:pPr>
              <a:spcAft>
                <a:spcPts val="500"/>
              </a:spcAft>
              <a:buNone/>
            </a:pPr>
            <a:r>
              <a:rPr sz="1600" b="0" i="0">
                <a:solidFill>
                  <a:srgbClr val="222222"/>
                </a:solidFill>
                <a:latin typeface="Roboto"/>
              </a:rPr>
              <a:t>Yasser — OpenSOVD, review and documentation</a:t>
            </a:r>
          </a:p>
          <a:p>
            <a:pPr>
              <a:spcAft>
                <a:spcPts val="500"/>
              </a:spcAft>
              <a:buNone/>
            </a:pPr>
            <a:r>
              <a:rPr sz="1600" b="0" i="0">
                <a:solidFill>
                  <a:srgbClr val="222222"/>
                </a:solidFill>
                <a:latin typeface="Roboto"/>
              </a:rPr>
              <a:t>Siva — openDuT and integration-test evidence</a:t>
            </a:r>
          </a:p>
        </p:txBody>
      </p:sp>
      <p:sp>
        <p:nvSpPr>
          <p:cNvPr id="86" name="TextBox 85"/>
          <p:cNvSpPr txBox="1"/>
          <p:nvPr/>
        </p:nvSpPr>
        <p:spPr>
          <a:xfrm>
            <a:off x="731520" y="4078224"/>
            <a:ext cx="7772400" cy="292608"/>
          </a:xfrm>
          <a:prstGeom prst="rect">
            <a:avLst/>
          </a:prstGeom>
          <a:noFill/>
        </p:spPr>
        <p:txBody>
          <a:bodyPr wrap="square" lIns="18288" rIns="18288" tIns="18288" bIns="18288">
            <a:spAutoFit/>
          </a:bodyPr>
          <a:lstStyle/>
          <a:p>
            <a:pPr>
              <a:spcAft>
                <a:spcPts val="500"/>
              </a:spcAft>
              <a:buNone/>
            </a:pPr>
            <a:r>
              <a:rPr sz="1100" b="0" i="0">
                <a:solidFill>
                  <a:srgbClr val="595959"/>
                </a:solidFill>
                <a:latin typeface="Roboto"/>
              </a:rPr>
              <a:t>Template: Eclipse Foundation AISBL and contributors / adapted under CC-BY-SA 4.0.</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Thinking CAPs — Eclipse SDV Freestyle Pitch 2026</dc:title>
  <cp:lastModifiedBy>python-pptx</cp:lastModifiedBy>
  <cp:revision>1</cp:revision>
  <dcterms:modified xsi:type="dcterms:W3CDTF">2026-10-07T15:01:37Z</dcterms:modified>
  <dc:subject>One slide per Freestyle scoring criterion; evidence-linked contribution handover</dc:subject>
  <dc:creator>Thinking CAPs</dc:creator>
  <cp:keywords>Eclipse SDV, Freestyle, HackFest, S-CORE, OpenSOVD, openDuT, ThreadX, AutoSD, OpenBSW</cp:keywords>
</cp:coreProperties>
</file>