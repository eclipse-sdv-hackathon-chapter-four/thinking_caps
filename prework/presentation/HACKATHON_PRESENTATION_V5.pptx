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Bridging Eclipse SDV</a:t>
            </a:r>
          </a:p>
          <a:p>
            <a:pPr algn="l">
              <a:defRPr sz="5400" b="1">
                <a:solidFill>
                  <a:srgbClr val="FFFFFF"/>
                </a:solidFill>
              </a:defRPr>
            </a:pPr>
            <a:r>
              <a:t>for ADAS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D4AA"/>
                </a:solidFill>
              </a:defRPr>
            </a:pPr>
            <a:r>
              <a:t>Eclipse SDV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555555"/>
                </a:solidFill>
              </a:defRPr>
            </a:pPr>
            <a:r>
              <a:t>S-CORE  •  OpenSOVD  •  X-Verse  •  openDuT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200400" cy="18288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Eclipse S-CORE</a:t>
            </a:r>
          </a:p>
          <a:p>
            <a:pPr algn="ctr">
              <a:defRPr sz="1600">
                <a:solidFill>
                  <a:srgbClr val="AAAAAA"/>
                </a:solidFill>
              </a:defRPr>
            </a:pPr>
            <a:r>
              <a:t>Safety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645920"/>
            <a:ext cx="1463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4444"/>
                </a:solidFill>
              </a:defRPr>
            </a:pPr>
            <a:r>
              <a:t>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88720"/>
            <a:ext cx="3200400" cy="18288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55448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Eclipse OpenSOVD</a:t>
            </a:r>
          </a:p>
          <a:p>
            <a:pPr algn="ctr">
              <a:defRPr sz="1600">
                <a:solidFill>
                  <a:srgbClr val="AAAAAA"/>
                </a:solidFill>
              </a:defRPr>
            </a:pPr>
            <a:r>
              <a:t>Diagnostics 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These projects don't work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Epic #1766: Diagnostics &amp; Fault Management</a:t>
            </a:r>
          </a:p>
          <a:p>
            <a:pPr algn="ctr">
              <a:defRPr sz="1400">
                <a:solidFill>
                  <a:srgbClr val="FF6666"/>
                </a:solidFill>
              </a:defRPr>
            </a:pPr>
            <a:r>
              <a:t>Open for 1 year — Unanswered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286000" cy="146304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S-CORE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51760" y="1691640"/>
            <a:ext cx="822960" cy="4572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66160" y="1188720"/>
            <a:ext cx="2011680" cy="146304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0A0A"/>
                </a:solidFill>
              </a:defRPr>
            </a:pPr>
            <a:r>
              <a:t>BRIDGE</a:t>
            </a:r>
          </a:p>
          <a:p>
            <a:pPr algn="ctr">
              <a:defRPr sz="1400">
                <a:solidFill>
                  <a:srgbClr val="1A1A1A"/>
                </a:solidFill>
              </a:defRPr>
            </a:pPr>
            <a:r>
              <a:t>PR #16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1691640"/>
            <a:ext cx="822960" cy="45720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188720"/>
            <a:ext cx="2286000" cy="146304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OpenSOVD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Four 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PR #16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AAAAA"/>
                </a:solidFill>
              </a:defRPr>
            </a:pPr>
            <a:r>
              <a:t>sovd_adapter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8404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Issue #553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AAAAA"/>
                </a:solidFill>
              </a:defRPr>
            </a:pPr>
            <a:r>
              <a:t>8 API compliance 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8404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CDA #543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AAAAA"/>
                </a:solidFill>
              </a:defRPr>
            </a:pPr>
            <a:r>
              <a:t>Bug fix for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38404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AAAAA"/>
                </a:solidFill>
              </a:defRPr>
            </a:pPr>
            <a:r>
              <a:t>Cruise Control + openDuT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731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Full Architecture with X-Verse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7315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■ Our Code    ■ X-Verse    □ Upstream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411480"/>
            <a:ext cx="3383280" cy="5029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32120" y="43891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A0A"/>
                </a:solidFill>
              </a:defRPr>
            </a:pPr>
            <a:r>
              <a:t>Dashboard :8080</a:t>
            </a:r>
          </a:p>
          <a:p>
            <a:pPr algn="ctr">
              <a:defRPr sz="900">
                <a:solidFill>
                  <a:srgbClr val="1A1A1A"/>
                </a:solidFill>
              </a:defRPr>
            </a:pPr>
            <a:r>
              <a:t>HTML/JS/Python</a:t>
            </a:r>
          </a:p>
        </p:txBody>
      </p:sp>
      <p:sp>
        <p:nvSpPr>
          <p:cNvPr id="6" name="Down Arrow 5"/>
          <p:cNvSpPr/>
          <p:nvPr/>
        </p:nvSpPr>
        <p:spPr>
          <a:xfrm>
            <a:off x="7040880" y="914400"/>
            <a:ext cx="228600" cy="2286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0" y="1170432"/>
            <a:ext cx="3383280" cy="502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19786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OpenSOVD Gateway :7690</a:t>
            </a:r>
          </a:p>
          <a:p>
            <a:pPr algn="ctr">
              <a:defRPr sz="900">
                <a:solidFill>
                  <a:srgbClr val="00D4AA"/>
                </a:solidFill>
              </a:defRPr>
            </a:pPr>
            <a:r>
              <a:t>Rust/Axum + Issue #553 Fixes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7040880" y="1691640"/>
            <a:ext cx="228600" cy="2286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0" y="1947672"/>
            <a:ext cx="3383280" cy="5029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975104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A0A"/>
                </a:solidFill>
              </a:defRPr>
            </a:pPr>
            <a:r>
              <a:t>sovd_adapter (PR #16)</a:t>
            </a:r>
          </a:p>
          <a:p>
            <a:pPr algn="ctr">
              <a:defRPr sz="900">
                <a:solidFill>
                  <a:srgbClr val="1A1A1A"/>
                </a:solidFill>
              </a:defRPr>
            </a:pPr>
            <a:r>
              <a:t>DataProvider | FaultProvider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040880" y="2468880"/>
            <a:ext cx="228600" cy="22860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2724912"/>
            <a:ext cx="1600200" cy="5029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2752344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cruise_diag</a:t>
            </a:r>
          </a:p>
          <a:p>
            <a:pPr algn="ctr">
              <a:defRPr sz="800">
                <a:solidFill>
                  <a:srgbClr val="1A1A1A"/>
                </a:solidFill>
              </a:defRPr>
            </a:pPr>
            <a:r>
              <a:t>DTC U0100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724912"/>
            <a:ext cx="1600200" cy="5029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752344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cruise_bridge</a:t>
            </a:r>
          </a:p>
          <a:p>
            <a:pPr algn="ctr">
              <a:defRPr sz="800">
                <a:solidFill>
                  <a:srgbClr val="1A1A1A"/>
                </a:solidFill>
              </a:defRPr>
            </a:pPr>
            <a:r>
              <a:t>TCP :7700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6995160" y="2880360"/>
            <a:ext cx="365760" cy="201168"/>
          </a:xfrm>
          <a:prstGeom prst="leftRightArrow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2880" y="411480"/>
            <a:ext cx="5029200" cy="4251960"/>
          </a:xfrm>
          <a:prstGeom prst="roundRect">
            <a:avLst/>
          </a:prstGeom>
          <a:solidFill>
            <a:srgbClr val="151515"/>
          </a:solidFill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5029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88888"/>
                </a:solidFill>
              </a:defRPr>
            </a:pPr>
            <a:r>
              <a:t>X-VERSE 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74980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Cruise Control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1051560"/>
            <a:ext cx="2286000" cy="64008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097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gatewayd</a:t>
            </a:r>
          </a:p>
          <a:p>
            <a:pPr algn="ctr">
              <a:defRPr sz="900">
                <a:solidFill>
                  <a:srgbClr val="AAAAAA"/>
                </a:solidFill>
              </a:defRPr>
            </a:pPr>
            <a:r>
              <a:t>mw::com | TCP :7700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1051560"/>
            <a:ext cx="2194560" cy="64008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10972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someipd</a:t>
            </a:r>
          </a:p>
          <a:p>
            <a:pPr algn="ctr">
              <a:defRPr sz="900">
                <a:solidFill>
                  <a:srgbClr val="AAAAAA"/>
                </a:solidFill>
              </a:defRPr>
            </a:pPr>
            <a:r>
              <a:t>vSomeIP 3.6.1</a:t>
            </a:r>
          </a:p>
        </p:txBody>
      </p:sp>
      <p:sp>
        <p:nvSpPr>
          <p:cNvPr id="25" name="Left-Right Arrow 24"/>
          <p:cNvSpPr/>
          <p:nvPr/>
        </p:nvSpPr>
        <p:spPr>
          <a:xfrm>
            <a:off x="2560320" y="1280160"/>
            <a:ext cx="365760" cy="201168"/>
          </a:xfrm>
          <a:prstGeom prst="left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" y="1920240"/>
            <a:ext cx="4663440" cy="77724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1965960"/>
            <a:ext cx="4480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cruise_control_main (C++)</a:t>
            </a:r>
          </a:p>
          <a:p>
            <a:pPr algn="ctr">
              <a:defRPr sz="900">
                <a:solidFill>
                  <a:srgbClr val="AAAAAA"/>
                </a:solidFill>
              </a:defRPr>
            </a:pPr>
            <a:r>
              <a:t>PID Controller (Kp=0.25, Ki=0.03, Kd=0.12) | 50ms loop | mw::com Skeleton</a:t>
            </a:r>
          </a:p>
        </p:txBody>
      </p:sp>
      <p:sp>
        <p:nvSpPr>
          <p:cNvPr id="28" name="Up Arrow 27"/>
          <p:cNvSpPr/>
          <p:nvPr/>
        </p:nvSpPr>
        <p:spPr>
          <a:xfrm>
            <a:off x="1417320" y="1691640"/>
            <a:ext cx="228600" cy="228600"/>
          </a:xfrm>
          <a:prstGeom prst="up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2926080"/>
            <a:ext cx="4663440" cy="77724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971800"/>
            <a:ext cx="4480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car_simulation (C++)</a:t>
            </a:r>
          </a:p>
          <a:p>
            <a:pPr algn="ctr">
              <a:defRPr sz="900">
                <a:solidFill>
                  <a:srgbClr val="AAAAAA"/>
                </a:solidFill>
              </a:defRPr>
            </a:pPr>
            <a:r>
              <a:t>Vehicle Physics | Speed Sensor | vSomeIP Publisher (Service 0x1234)</a:t>
            </a:r>
          </a:p>
        </p:txBody>
      </p:sp>
      <p:sp>
        <p:nvSpPr>
          <p:cNvPr id="31" name="Up Arrow 30"/>
          <p:cNvSpPr/>
          <p:nvPr/>
        </p:nvSpPr>
        <p:spPr>
          <a:xfrm>
            <a:off x="2560320" y="2697480"/>
            <a:ext cx="228600" cy="228600"/>
          </a:xfrm>
          <a:prstGeom prst="up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26974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D4AA"/>
                </a:solidFill>
              </a:defRPr>
            </a:pPr>
            <a:r>
              <a:t>SOME/IP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2971800"/>
            <a:ext cx="2286000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7178040" y="2907792"/>
            <a:ext cx="228600" cy="164592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306324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D4AA"/>
                </a:solidFill>
              </a:defRPr>
            </a:pPr>
            <a:r>
              <a:t>TCP :7700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886200"/>
            <a:ext cx="4663440" cy="6400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93192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openDuT Testing</a:t>
            </a:r>
          </a:p>
          <a:p>
            <a:pPr algn="ctr">
              <a:defRPr sz="900">
                <a:solidFill>
                  <a:srgbClr val="00D4AA"/>
                </a:solidFill>
              </a:defRPr>
            </a:pPr>
            <a:r>
              <a:t>Distributed Test Orchestration | 13 Assertions PASS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3383280"/>
            <a:ext cx="3383280" cy="12344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0" y="34290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Data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36576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AAAA"/>
                </a:solidFill>
              </a:defRPr>
            </a:pPr>
            <a:r>
              <a:t>Car Sim → SOME/IP → someipd</a:t>
            </a:r>
          </a:p>
          <a:p>
            <a:pPr>
              <a:defRPr sz="900">
                <a:solidFill>
                  <a:srgbClr val="AAAAAA"/>
                </a:solidFill>
              </a:defRPr>
            </a:pPr>
            <a:r>
              <a:t>→ gatewayd → cruise_control</a:t>
            </a:r>
          </a:p>
          <a:p>
            <a:pPr>
              <a:defRPr sz="900">
                <a:solidFill>
                  <a:srgbClr val="00D4AA"/>
                </a:solidFill>
              </a:defRPr>
            </a:pPr>
            <a:r>
              <a:t>→ cruise_bridge → cruise_diag</a:t>
            </a:r>
          </a:p>
          <a:p>
            <a:pPr>
              <a:defRPr sz="900">
                <a:solidFill>
                  <a:srgbClr val="00D4AA"/>
                </a:solidFill>
              </a:defRPr>
            </a:pPr>
            <a:r>
              <a:t>→ sovd_adapter → OpenSOVD</a:t>
            </a:r>
          </a:p>
          <a:p>
            <a:pPr>
              <a:defRPr sz="900">
                <a:solidFill>
                  <a:srgbClr val="00D4AA"/>
                </a:solidFill>
              </a:defRPr>
            </a:pPr>
            <a:r>
              <a:t>→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 Case: Speed Signal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Safety-Critical ADAS Scenario  •  ISO 26262 ASIL B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3716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4447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0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6596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21284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AAAAA"/>
                </a:solidFill>
              </a:defRPr>
            </a:pPr>
            <a:r>
              <a:t>120 km/h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39572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Cruise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914400" cy="228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13716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4447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0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6596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1284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AAAAA"/>
                </a:solidFill>
              </a:defRPr>
            </a:pPr>
            <a:r>
              <a:t>Signal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9572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Inject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1600200"/>
            <a:ext cx="914400" cy="228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08960" y="13716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14447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0A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96596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21284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AAAAA"/>
                </a:solidFill>
              </a:defRPr>
            </a:pPr>
            <a:r>
              <a:t>100ms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39572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Timeout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1600200"/>
            <a:ext cx="914400" cy="228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72000" y="137160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4447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0A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96596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21284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AAAAA"/>
                </a:solidFill>
              </a:defRPr>
            </a:pPr>
            <a:r>
              <a:t>5000ms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39572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DTC U0100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1600200"/>
            <a:ext cx="914400" cy="228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0" y="13716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4447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0A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59" y="196596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59" y="221284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AAAAA"/>
                </a:solidFill>
              </a:defRPr>
            </a:pPr>
            <a:r>
              <a:t>Safe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59" y="239572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Decel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1600200"/>
            <a:ext cx="914400" cy="228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98079" y="13716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144475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A0A0A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199" y="196596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DIAGNOSE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9" y="221284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AAAAA"/>
                </a:solidFill>
              </a:defRPr>
            </a:pPr>
            <a:r>
              <a:t>REST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9" y="239572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/faults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2926080"/>
            <a:ext cx="8595360" cy="2011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Why This Use Case?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→  Safety-Critical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73075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Without speed data, ACC cannot function safely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95020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→  Full Stack Demo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206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Car Sim → X-Verse → Bridge → SOVD →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4256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→  Real Automotive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6817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Actual scenario OEMs face in 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90118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→  Shows All Projects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15721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S-CORE + OpenSOVD + openDuT working together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Scope Declaration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4206240" cy="21031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0A0A"/>
                </a:solidFill>
              </a:defRPr>
            </a:pPr>
            <a:r>
              <a:t>★ OUR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A0A0A"/>
                </a:solidFill>
              </a:defRPr>
            </a:pPr>
            <a:r>
              <a:t>→  sovd_adapter (PR #16) — ~900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A0A0A"/>
                </a:solidFill>
              </a:defRPr>
            </a:pPr>
            <a:r>
              <a:t>→  Issue #553 fixes — ~770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83664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A0A0A"/>
                </a:solidFill>
              </a:defRPr>
            </a:pPr>
            <a:r>
              <a:t>→  cruise_diag — ~500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9696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A0A0A"/>
                </a:solidFill>
              </a:defRPr>
            </a:pPr>
            <a:r>
              <a:t>→  cruise_bridge — ~400 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A0A0A"/>
                </a:solidFill>
              </a:defRPr>
            </a:pPr>
            <a:r>
              <a:t>→  Dashboard — ~800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A0A0A"/>
                </a:solidFill>
              </a:defRPr>
            </a:pPr>
            <a:r>
              <a:t>→  CDA #543 bug fix — ~230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0A0A"/>
                </a:solidFill>
              </a:defRPr>
            </a:pPr>
            <a:r>
              <a:t>Total: ~3,870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868680"/>
            <a:ext cx="4206240" cy="210312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○ X-VERSE / UPSTREAM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3716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→  cruise_control — Cruise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627632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→  car_simulation — Cruise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83664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→  gatewayd — X-Verse (S-CORE)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139696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→  someipd — X-Verse (vSomeIP)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395728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→  OpenSOVD server — Upstream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6517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→  openDuT framework — Upstream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154680"/>
            <a:ext cx="859536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Our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AAAAA"/>
                </a:solidFill>
              </a:defRPr>
            </a:pPr>
            <a:r>
              <a:t>We built the bridge (sovd_adapter) between Eclipse S-CORE and Eclipse OpenSOVD,</a:t>
            </a:r>
          </a:p>
          <a:p>
            <a:pPr>
              <a:defRPr sz="1300">
                <a:solidFill>
                  <a:srgbClr val="AAAAAA"/>
                </a:solidFill>
              </a:defRPr>
            </a:pPr>
            <a:r>
              <a:t>fixed 8 API compliance issues, and demonstrated it with a safety-critical Cruise</a:t>
            </a:r>
          </a:p>
          <a:p>
            <a:pPr>
              <a:defRPr sz="1300">
                <a:solidFill>
                  <a:srgbClr val="AAAAAA"/>
                </a:solidFill>
              </a:defRPr>
            </a:pPr>
            <a:r>
              <a:t>Control use case running on the X-Verse deployment from the Cruise Control team.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Standards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→  ISO 17978-3 — SOVD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→  ISO 14229-1 — DTC Status 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→  ISO 26262 — ASIL B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Key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258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→  Rust + Tokio async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916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→  mw::com Proxy/Skeleton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57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→  TCP bridge to X-Verse gatewayd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201168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AAAAA"/>
                </a:solidFill>
              </a:defRPr>
            </a:pPr>
            <a:r>
              <a:t>Control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743200"/>
            <a:ext cx="201168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9260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5s / 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611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AAAAA"/>
                </a:solidFill>
              </a:defRPr>
            </a:pPr>
            <a:r>
              <a:t>Debounce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2743200"/>
            <a:ext cx="201168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9260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13/13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11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AAAAA"/>
                </a:solidFill>
              </a:defRPr>
            </a:pPr>
            <a:r>
              <a:t>Tests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79" y="2743200"/>
            <a:ext cx="201168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79" y="29260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~3,870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3611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AAAAA"/>
                </a:solidFill>
              </a:defRPr>
            </a:pPr>
            <a:r>
              <a:t>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Languages:  Rust  •  C++  •  Python  •  HTML/JS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88720" cy="7315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0A0A"/>
                </a:solidFill>
              </a:defRPr>
            </a:pPr>
            <a:r>
              <a:t>00:00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Normal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Dashboard: Speed=120, State=ACTIVE, Faults=0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1188720" cy="7315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0A0A"/>
                </a:solidFill>
              </a:defRPr>
            </a:pPr>
            <a:r>
              <a:t>00:15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11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Fault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774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Click button → Speed signal lost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1188720" cy="7315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0A0A"/>
                </a:solidFill>
              </a:defRPr>
            </a:pPr>
            <a:r>
              <a:t>00:30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918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curl /faults → DTC U0100 confirmed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1188720" cy="73152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0A0A"/>
                </a:solidFill>
              </a:defRPr>
            </a:pPr>
            <a:r>
              <a:t>00:45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4047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06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PUT /restart → System recovers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822960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45152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Dashboard   •   curl (REST)   •   X-Verse Logs   •   Test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206240" cy="21945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 OEMs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→  Build ADAS on Eclipse S-CORE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→  ISO 17978-3 compliant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→  Standard REST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→  No vendor lock-in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914400"/>
            <a:ext cx="4206240" cy="21945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 Eclipse SDV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→  Projects work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7451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→  Real ADAS use case proven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2402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→  Answers Epic #1766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060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t>→  Blueprint for integrations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83280"/>
            <a:ext cx="8595360" cy="100584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A0A0A"/>
                </a:solidFill>
              </a:defRPr>
            </a:pPr>
            <a:r>
              <a:t>Ready for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1A1A"/>
                </a:solidFill>
              </a:defRPr>
            </a:pPr>
            <a:r>
              <a:t>PR #16  •  Issue #553  •  CDA #543  •  Demo  • 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We bridged the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0D4AA"/>
                </a:solidFill>
              </a:defRPr>
            </a:pPr>
            <a:r>
              <a:t>Let's merge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S-CORE  ←→  X-Verse  ←→  OpenSOVD  ←→  openDuT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